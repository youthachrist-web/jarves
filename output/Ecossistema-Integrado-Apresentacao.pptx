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3.xml"/><Relationship Id="rId6" Type="http://schemas.openxmlformats.org/officeDocument/2006/relationships/slide" Target="slide5.xml"/><Relationship Id="rId7" Type="http://schemas.openxmlformats.org/officeDocument/2006/relationships/slide" Target="slide5.xml"/><Relationship Id="rId8" Type="http://schemas.openxmlformats.org/officeDocument/2006/relationships/slide" Target="slide5.xml"/><Relationship Id="rId9" Type="http://schemas.openxmlformats.org/officeDocument/2006/relationships/slide" Target="slide5.xml"/><Relationship Id="rId10" Type="http://schemas.openxmlformats.org/officeDocument/2006/relationships/slide" Target="slide5.xml"/><Relationship Id="rId11" Type="http://schemas.openxmlformats.org/officeDocument/2006/relationships/slide" Target="slide7.xml"/><Relationship Id="rId12" Type="http://schemas.openxmlformats.org/officeDocument/2006/relationships/slide" Target="slide7.xml"/><Relationship Id="rId13" Type="http://schemas.openxmlformats.org/officeDocument/2006/relationships/slide" Target="slide7.xml"/><Relationship Id="rId14" Type="http://schemas.openxmlformats.org/officeDocument/2006/relationships/slide" Target="slide7.xml"/><Relationship Id="rId15" Type="http://schemas.openxmlformats.org/officeDocument/2006/relationships/slide" Target="slide7.xml"/><Relationship Id="rId16" Type="http://schemas.openxmlformats.org/officeDocument/2006/relationships/slide" Target="slide15.xml"/><Relationship Id="rId17" Type="http://schemas.openxmlformats.org/officeDocument/2006/relationships/slide" Target="slide15.xml"/><Relationship Id="rId18" Type="http://schemas.openxmlformats.org/officeDocument/2006/relationships/slide" Target="slide15.xml"/><Relationship Id="rId19" Type="http://schemas.openxmlformats.org/officeDocument/2006/relationships/slide" Target="slide15.xml"/><Relationship Id="rId20" Type="http://schemas.openxmlformats.org/officeDocument/2006/relationships/slide" Target="slide15.xml"/><Relationship Id="rId21" Type="http://schemas.openxmlformats.org/officeDocument/2006/relationships/slide" Target="slide16.xml"/><Relationship Id="rId22" Type="http://schemas.openxmlformats.org/officeDocument/2006/relationships/slide" Target="slide16.xml"/><Relationship Id="rId23" Type="http://schemas.openxmlformats.org/officeDocument/2006/relationships/slide" Target="slide16.xml"/><Relationship Id="rId24" Type="http://schemas.openxmlformats.org/officeDocument/2006/relationships/slide" Target="slide16.xml"/><Relationship Id="rId25" Type="http://schemas.openxmlformats.org/officeDocument/2006/relationships/slide" Target="slide16.xml"/><Relationship Id="rId26" Type="http://schemas.openxmlformats.org/officeDocument/2006/relationships/slide" Target="slide8.xml"/><Relationship Id="rId27" Type="http://schemas.openxmlformats.org/officeDocument/2006/relationships/slide" Target="slide8.xml"/><Relationship Id="rId28" Type="http://schemas.openxmlformats.org/officeDocument/2006/relationships/slide" Target="slide9.xml"/><Relationship Id="rId29" Type="http://schemas.openxmlformats.org/officeDocument/2006/relationships/slide" Target="slide9.xml"/><Relationship Id="rId30" Type="http://schemas.openxmlformats.org/officeDocument/2006/relationships/slide" Target="slide10.xml"/><Relationship Id="rId31" Type="http://schemas.openxmlformats.org/officeDocument/2006/relationships/slide" Target="slide10.xml"/><Relationship Id="rId32" Type="http://schemas.openxmlformats.org/officeDocument/2006/relationships/slide" Target="slide11.xml"/><Relationship Id="rId33" Type="http://schemas.openxmlformats.org/officeDocument/2006/relationships/slide" Target="slide11.xml"/><Relationship Id="rId34" Type="http://schemas.openxmlformats.org/officeDocument/2006/relationships/slide" Target="slide12.xml"/><Relationship Id="rId35" Type="http://schemas.openxmlformats.org/officeDocument/2006/relationships/slide" Target="slide12.xml"/><Relationship Id="rId36" Type="http://schemas.openxmlformats.org/officeDocument/2006/relationships/slide" Target="slide13.xml"/><Relationship Id="rId37" Type="http://schemas.openxmlformats.org/officeDocument/2006/relationships/slide" Target="slide13.xml"/><Relationship Id="rId38" Type="http://schemas.openxmlformats.org/officeDocument/2006/relationships/slide" Target="slide14.xml"/><Relationship Id="rId39" Type="http://schemas.openxmlformats.org/officeDocument/2006/relationships/slide" Target="slide14.xml"/><Relationship Id="rId40" Type="http://schemas.openxmlformats.org/officeDocument/2006/relationships/slideLayout" Target="../slideLayouts/slideLayout1.xml"/><Relationship Id="rId4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image" Target="../media/image-4-1.png"/><Relationship Id="rId4" Type="http://schemas.openxmlformats.org/officeDocument/2006/relationships/image" Target="../media/image-4-2.png"/><Relationship Id="rId5" Type="http://schemas.openxmlformats.org/officeDocument/2006/relationships/image" Target="../media/image-4-3.png"/><Relationship Id="rId6" Type="http://schemas.openxmlformats.org/officeDocument/2006/relationships/image" Target="../media/image-4-4.png"/><Relationship Id="rId7" Type="http://schemas.openxmlformats.org/officeDocument/2006/relationships/image" Target="../media/image-4-5.png"/><Relationship Id="rId8" Type="http://schemas.openxmlformats.org/officeDocument/2006/relationships/image" Target="../media/image-4-6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" Target="slide6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" Target="slide8.xml"/><Relationship Id="rId4" Type="http://schemas.openxmlformats.org/officeDocument/2006/relationships/slide" Target="slide8.xml"/><Relationship Id="rId5" Type="http://schemas.openxmlformats.org/officeDocument/2006/relationships/slide" Target="slide9.xml"/><Relationship Id="rId6" Type="http://schemas.openxmlformats.org/officeDocument/2006/relationships/slide" Target="slide9.xml"/><Relationship Id="rId7" Type="http://schemas.openxmlformats.org/officeDocument/2006/relationships/slide" Target="slide9.xml"/><Relationship Id="rId8" Type="http://schemas.openxmlformats.org/officeDocument/2006/relationships/slide" Target="slide10.xml"/><Relationship Id="rId9" Type="http://schemas.openxmlformats.org/officeDocument/2006/relationships/slide" Target="slide10.xml"/><Relationship Id="rId10" Type="http://schemas.openxmlformats.org/officeDocument/2006/relationships/slide" Target="slide10.xml"/><Relationship Id="rId11" Type="http://schemas.openxmlformats.org/officeDocument/2006/relationships/slide" Target="slide11.xml"/><Relationship Id="rId12" Type="http://schemas.openxmlformats.org/officeDocument/2006/relationships/slide" Target="slide11.xml"/><Relationship Id="rId13" Type="http://schemas.openxmlformats.org/officeDocument/2006/relationships/slide" Target="slide11.xml"/><Relationship Id="rId14" Type="http://schemas.openxmlformats.org/officeDocument/2006/relationships/slide" Target="slide12.xml"/><Relationship Id="rId15" Type="http://schemas.openxmlformats.org/officeDocument/2006/relationships/slide" Target="slide12.xml"/><Relationship Id="rId16" Type="http://schemas.openxmlformats.org/officeDocument/2006/relationships/slide" Target="slide12.xml"/><Relationship Id="rId17" Type="http://schemas.openxmlformats.org/officeDocument/2006/relationships/slide" Target="slide13.xml"/><Relationship Id="rId18" Type="http://schemas.openxmlformats.org/officeDocument/2006/relationships/slide" Target="slide13.xml"/><Relationship Id="rId19" Type="http://schemas.openxmlformats.org/officeDocument/2006/relationships/slide" Target="slide13.xml"/><Relationship Id="rId20" Type="http://schemas.openxmlformats.org/officeDocument/2006/relationships/slide" Target="slide14.xml"/><Relationship Id="rId21" Type="http://schemas.openxmlformats.org/officeDocument/2006/relationships/slide" Target="slide14.xml"/><Relationship Id="rId22" Type="http://schemas.openxmlformats.org/officeDocument/2006/relationships/slide" Target="slide14.xml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" Target="slide8.xml"/><Relationship Id="rId4" Type="http://schemas.openxmlformats.org/officeDocument/2006/relationships/slide" Target="slide8.xml"/><Relationship Id="rId5" Type="http://schemas.openxmlformats.org/officeDocument/2006/relationships/slide" Target="slide8.xml"/><Relationship Id="rId6" Type="http://schemas.openxmlformats.org/officeDocument/2006/relationships/slide" Target="slide9.xml"/><Relationship Id="rId7" Type="http://schemas.openxmlformats.org/officeDocument/2006/relationships/slide" Target="slide9.xml"/><Relationship Id="rId8" Type="http://schemas.openxmlformats.org/officeDocument/2006/relationships/slide" Target="slide9.xml"/><Relationship Id="rId9" Type="http://schemas.openxmlformats.org/officeDocument/2006/relationships/slide" Target="slide10.xml"/><Relationship Id="rId10" Type="http://schemas.openxmlformats.org/officeDocument/2006/relationships/slide" Target="slide10.xml"/><Relationship Id="rId11" Type="http://schemas.openxmlformats.org/officeDocument/2006/relationships/slide" Target="slide10.xml"/><Relationship Id="rId12" Type="http://schemas.openxmlformats.org/officeDocument/2006/relationships/slide" Target="slide11.xml"/><Relationship Id="rId13" Type="http://schemas.openxmlformats.org/officeDocument/2006/relationships/slide" Target="slide11.xml"/><Relationship Id="rId14" Type="http://schemas.openxmlformats.org/officeDocument/2006/relationships/slide" Target="slide11.xml"/><Relationship Id="rId15" Type="http://schemas.openxmlformats.org/officeDocument/2006/relationships/slide" Target="slide12.xml"/><Relationship Id="rId16" Type="http://schemas.openxmlformats.org/officeDocument/2006/relationships/slide" Target="slide12.xml"/><Relationship Id="rId17" Type="http://schemas.openxmlformats.org/officeDocument/2006/relationships/slide" Target="slide12.xml"/><Relationship Id="rId18" Type="http://schemas.openxmlformats.org/officeDocument/2006/relationships/slide" Target="slide13.xml"/><Relationship Id="rId19" Type="http://schemas.openxmlformats.org/officeDocument/2006/relationships/slide" Target="slide13.xml"/><Relationship Id="rId20" Type="http://schemas.openxmlformats.org/officeDocument/2006/relationships/slide" Target="slide13.xml"/><Relationship Id="rId21" Type="http://schemas.openxmlformats.org/officeDocument/2006/relationships/slide" Target="slide14.xml"/><Relationship Id="rId22" Type="http://schemas.openxmlformats.org/officeDocument/2006/relationships/slide" Target="slide14.xml"/><Relationship Id="rId23" Type="http://schemas.openxmlformats.org/officeDocument/2006/relationships/slide" Target="slide14.xml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" Target="slide6.xml"/><Relationship Id="rId2" Type="http://schemas.openxmlformats.org/officeDocument/2006/relationships/slide" Target="slide6.xml"/><Relationship Id="rId3" Type="http://schemas.openxmlformats.org/officeDocument/2006/relationships/image" Target="../media/image-8-1.png"/><Relationship Id="rId4" Type="http://schemas.openxmlformats.org/officeDocument/2006/relationships/image" Target="../media/image-8-2.png"/><Relationship Id="rId5" Type="http://schemas.openxmlformats.org/officeDocument/2006/relationships/image" Target="../media/image-8-3.png"/><Relationship Id="rId6" Type="http://schemas.openxmlformats.org/officeDocument/2006/relationships/image" Target="../media/image-8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" Target="slide6.xml"/><Relationship Id="rId2" Type="http://schemas.openxmlformats.org/officeDocument/2006/relationships/slide" Target="slide6.xml"/><Relationship Id="rId3" Type="http://schemas.openxmlformats.org/officeDocument/2006/relationships/image" Target="../media/image-9-1.png"/><Relationship Id="rId4" Type="http://schemas.openxmlformats.org/officeDocument/2006/relationships/image" Target="../media/image-9-2.png"/><Relationship Id="rId5" Type="http://schemas.openxmlformats.org/officeDocument/2006/relationships/image" Target="../media/image-9-3.png"/><Relationship Id="rId6" Type="http://schemas.openxmlformats.org/officeDocument/2006/relationships/image" Target="../media/image-9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" Target="slide6.xml"/><Relationship Id="rId2" Type="http://schemas.openxmlformats.org/officeDocument/2006/relationships/slide" Target="slide6.xml"/><Relationship Id="rId3" Type="http://schemas.openxmlformats.org/officeDocument/2006/relationships/image" Target="../media/image-10-1.png"/><Relationship Id="rId4" Type="http://schemas.openxmlformats.org/officeDocument/2006/relationships/image" Target="../media/image-10-2.png"/><Relationship Id="rId5" Type="http://schemas.openxmlformats.org/officeDocument/2006/relationships/image" Target="../media/image-10-3.png"/><Relationship Id="rId6" Type="http://schemas.openxmlformats.org/officeDocument/2006/relationships/image" Target="../media/image-10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" Target="slide6.xml"/><Relationship Id="rId2" Type="http://schemas.openxmlformats.org/officeDocument/2006/relationships/slide" Target="slide6.xml"/><Relationship Id="rId3" Type="http://schemas.openxmlformats.org/officeDocument/2006/relationships/image" Target="../media/image-11-1.png"/><Relationship Id="rId4" Type="http://schemas.openxmlformats.org/officeDocument/2006/relationships/image" Target="../media/image-11-2.png"/><Relationship Id="rId5" Type="http://schemas.openxmlformats.org/officeDocument/2006/relationships/image" Target="../media/image-11-3.png"/><Relationship Id="rId6" Type="http://schemas.openxmlformats.org/officeDocument/2006/relationships/image" Target="../media/image-11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" Target="slide6.xml"/><Relationship Id="rId2" Type="http://schemas.openxmlformats.org/officeDocument/2006/relationships/slide" Target="slide6.xml"/><Relationship Id="rId3" Type="http://schemas.openxmlformats.org/officeDocument/2006/relationships/image" Target="../media/image-12-1.png"/><Relationship Id="rId4" Type="http://schemas.openxmlformats.org/officeDocument/2006/relationships/image" Target="../media/image-12-2.png"/><Relationship Id="rId5" Type="http://schemas.openxmlformats.org/officeDocument/2006/relationships/image" Target="../media/image-12-3.png"/><Relationship Id="rId6" Type="http://schemas.openxmlformats.org/officeDocument/2006/relationships/image" Target="../media/image-12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" Target="slide6.xml"/><Relationship Id="rId2" Type="http://schemas.openxmlformats.org/officeDocument/2006/relationships/slide" Target="slide6.xml"/><Relationship Id="rId3" Type="http://schemas.openxmlformats.org/officeDocument/2006/relationships/image" Target="../media/image-13-1.png"/><Relationship Id="rId4" Type="http://schemas.openxmlformats.org/officeDocument/2006/relationships/image" Target="../media/image-13-2.png"/><Relationship Id="rId5" Type="http://schemas.openxmlformats.org/officeDocument/2006/relationships/image" Target="../media/image-13-3.png"/><Relationship Id="rId6" Type="http://schemas.openxmlformats.org/officeDocument/2006/relationships/image" Target="../media/image-13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" Target="slide6.xml"/><Relationship Id="rId2" Type="http://schemas.openxmlformats.org/officeDocument/2006/relationships/slide" Target="slide6.xml"/><Relationship Id="rId3" Type="http://schemas.openxmlformats.org/officeDocument/2006/relationships/image" Target="../media/image-14-1.png"/><Relationship Id="rId4" Type="http://schemas.openxmlformats.org/officeDocument/2006/relationships/image" Target="../media/image-14-2.png"/><Relationship Id="rId5" Type="http://schemas.openxmlformats.org/officeDocument/2006/relationships/image" Target="../media/image-14-3.png"/><Relationship Id="rId6" Type="http://schemas.openxmlformats.org/officeDocument/2006/relationships/image" Target="../media/image-14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image" Target="../media/image-15-1.png"/><Relationship Id="rId4" Type="http://schemas.openxmlformats.org/officeDocument/2006/relationships/image" Target="../media/image-15-2.png"/><Relationship Id="rId5" Type="http://schemas.openxmlformats.org/officeDocument/2006/relationships/image" Target="../media/image-15-3.png"/><Relationship Id="rId6" Type="http://schemas.openxmlformats.org/officeDocument/2006/relationships/image" Target="../media/image-15-4.png"/><Relationship Id="rId7" Type="http://schemas.openxmlformats.org/officeDocument/2006/relationships/image" Target="../media/image-15-5.png"/><Relationship Id="rId8" Type="http://schemas.openxmlformats.org/officeDocument/2006/relationships/image" Target="../media/image-15-6.png"/><Relationship Id="rId9" Type="http://schemas.openxmlformats.org/officeDocument/2006/relationships/image" Target="../media/image-15-7.png"/><Relationship Id="rId10" Type="http://schemas.openxmlformats.org/officeDocument/2006/relationships/image" Target="../media/image-15-8.png"/><Relationship Id="rId11" Type="http://schemas.openxmlformats.org/officeDocument/2006/relationships/image" Target="../media/image-15-9.png"/><Relationship Id="rId12" Type="http://schemas.openxmlformats.org/officeDocument/2006/relationships/image" Target="../media/image-15-10.png"/><Relationship Id="rId13" Type="http://schemas.openxmlformats.org/officeDocument/2006/relationships/image" Target="../media/image-15-11.png"/><Relationship Id="rId14" Type="http://schemas.openxmlformats.org/officeDocument/2006/relationships/image" Target="../media/image-15-12.png"/><Relationship Id="rId15" Type="http://schemas.openxmlformats.org/officeDocument/2006/relationships/image" Target="../media/image-15-13.png"/><Relationship Id="rId16" Type="http://schemas.openxmlformats.org/officeDocument/2006/relationships/image" Target="../media/image-15-14.png"/><Relationship Id="rId17" Type="http://schemas.openxmlformats.org/officeDocument/2006/relationships/image" Target="../media/image-15-15.png"/><Relationship Id="rId18" Type="http://schemas.openxmlformats.org/officeDocument/2006/relationships/image" Target="../media/image-15-16.png"/><Relationship Id="rId19" Type="http://schemas.openxmlformats.org/officeDocument/2006/relationships/image" Target="../media/image-15-17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image" Target="../media/image-16-1.png"/><Relationship Id="rId4" Type="http://schemas.openxmlformats.org/officeDocument/2006/relationships/image" Target="../media/image-16-2.png"/><Relationship Id="rId5" Type="http://schemas.openxmlformats.org/officeDocument/2006/relationships/image" Target="../media/image-16-3.png"/><Relationship Id="rId6" Type="http://schemas.openxmlformats.org/officeDocument/2006/relationships/image" Target="../media/image-16-4.png"/><Relationship Id="rId7" Type="http://schemas.openxmlformats.org/officeDocument/2006/relationships/image" Target="../media/image-16-5.png"/><Relationship Id="rId8" Type="http://schemas.openxmlformats.org/officeDocument/2006/relationships/image" Target="../media/image-16-6.png"/><Relationship Id="rId9" Type="http://schemas.openxmlformats.org/officeDocument/2006/relationships/image" Target="../media/image-16-7.png"/><Relationship Id="rId10" Type="http://schemas.openxmlformats.org/officeDocument/2006/relationships/image" Target="../media/image-16-8.png"/><Relationship Id="rId11" Type="http://schemas.openxmlformats.org/officeDocument/2006/relationships/image" Target="../media/image-16-9.png"/><Relationship Id="rId12" Type="http://schemas.openxmlformats.org/officeDocument/2006/relationships/image" Target="../media/image-16-10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377440"/>
            <a:ext cx="5943600" cy="5943600"/>
          </a:xfrm>
          <a:prstGeom prst="ellipse">
            <a:avLst/>
          </a:prstGeom>
          <a:solidFill>
            <a:srgbClr val="182A56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3291840"/>
            <a:ext cx="6035040" cy="6035040"/>
          </a:xfrm>
          <a:prstGeom prst="ellipse">
            <a:avLst/>
          </a:prstGeom>
          <a:solidFill>
            <a:srgbClr val="182A56"/>
          </a:solidFill>
          <a:ln/>
        </p:spPr>
      </p:sp>
      <p:sp>
        <p:nvSpPr>
          <p:cNvPr id="4" name="Shape 2"/>
          <p:cNvSpPr/>
          <p:nvPr/>
        </p:nvSpPr>
        <p:spPr>
          <a:xfrm>
            <a:off x="9966960" y="4389120"/>
            <a:ext cx="3291840" cy="3291840"/>
          </a:xfrm>
          <a:prstGeom prst="ellipse">
            <a:avLst/>
          </a:prstGeom>
          <a:solidFill>
            <a:srgbClr val="17D4AC">
              <a:alpha val="12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17D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ECOSSISTEMA INTEGRADO DE SOLUÇÕES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98755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sistema. Sete</a:t>
            </a:r>
            <a:endParaRPr lang="en-US" sz="4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soluções. Um único</a:t>
            </a:r>
            <a:endParaRPr lang="en-US" sz="4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resultado.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892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spc="50" kern="0" dirty="0">
                <a:solidFill>
                  <a:srgbClr val="AEB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FourLife  ·  AVall.iÔ  ·  SGG  ·  Grupo LabDuo  ·  ZapVida  ·  Uninovia  ·  Agência Orion</a:t>
            </a:r>
            <a:endParaRPr lang="en-US" sz="1350" dirty="0"/>
          </a:p>
        </p:txBody>
      </p:sp>
      <p:sp>
        <p:nvSpPr>
          <p:cNvPr id="8" name="Shape 6">
            <a:hlinkClick r:id="rId1" tooltip="" action="ppaction://hlinksldjump"/>
          </p:cNvPr>
          <p:cNvSpPr/>
          <p:nvPr/>
        </p:nvSpPr>
        <p:spPr>
          <a:xfrm>
            <a:off x="822960" y="5532120"/>
            <a:ext cx="3063240" cy="457200"/>
          </a:xfrm>
          <a:prstGeom prst="roundRect">
            <a:avLst>
              <a:gd name="adj" fmla="val 50000"/>
            </a:avLst>
          </a:prstGeom>
          <a:solidFill>
            <a:srgbClr val="17D4AC"/>
          </a:solidFill>
          <a:ln/>
        </p:spPr>
      </p:sp>
      <p:sp>
        <p:nvSpPr>
          <p:cNvPr id="9" name="Text 7">
            <a:hlinkClick r:id="rId2" tooltip="" action="ppaction://hlinksldjump"/>
          </p:cNvPr>
          <p:cNvSpPr txBox="1"/>
          <p:nvPr/>
        </p:nvSpPr>
        <p:spPr>
          <a:xfrm>
            <a:off x="822960" y="5532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none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EXPLORAR A APRESENTAÇÃO  →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309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8B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Produtividade · Saúde · Segurança · Educação · Tecnologia · Dados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0E9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percorrer</a:t>
            </a:r>
            <a:endParaRPr lang="en-US" sz="3000" dirty="0"/>
          </a:p>
        </p:txBody>
      </p:sp>
      <p:sp>
        <p:nvSpPr>
          <p:cNvPr id="4" name="Shape 2">
            <a:hlinkClick r:id="rId1" tooltip="" action="ppaction://hlinksldjump"/>
          </p:cNvPr>
          <p:cNvSpPr/>
          <p:nvPr/>
        </p:nvSpPr>
        <p:spPr>
          <a:xfrm>
            <a:off x="822960" y="187452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F3568">
                <a:alpha val="12000"/>
              </a:srgbClr>
            </a:outerShdw>
          </a:effectLst>
        </p:spPr>
      </p:sp>
      <p:sp>
        <p:nvSpPr>
          <p:cNvPr id="5" name="Text 3">
            <a:hlinkClick r:id="rId2" tooltip="" action="ppaction://hlinksldjump"/>
          </p:cNvPr>
          <p:cNvSpPr txBox="1"/>
          <p:nvPr/>
        </p:nvSpPr>
        <p:spPr>
          <a:xfrm>
            <a:off x="1078992" y="187452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u="none" dirty="0">
                <a:solidFill>
                  <a:srgbClr val="0E9C80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01</a:t>
            </a:r>
            <a:endParaRPr lang="en-US" sz="2200" dirty="0"/>
          </a:p>
        </p:txBody>
      </p:sp>
      <p:sp>
        <p:nvSpPr>
          <p:cNvPr id="6" name="Text 4">
            <a:hlinkClick r:id="rId3" tooltip="" action="ppaction://hlinksldjump"/>
          </p:cNvPr>
          <p:cNvSpPr txBox="1"/>
          <p:nvPr/>
        </p:nvSpPr>
        <p:spPr>
          <a:xfrm>
            <a:off x="2057400" y="19476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u="none" dirty="0">
                <a:solidFill>
                  <a:srgbClr val="13182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 Desafio</a:t>
            </a:r>
            <a:endParaRPr lang="en-US" sz="1600" dirty="0"/>
          </a:p>
        </p:txBody>
      </p:sp>
      <p:sp>
        <p:nvSpPr>
          <p:cNvPr id="7" name="Text 5">
            <a:hlinkClick r:id="rId4" tooltip="" action="ppaction://hlinksldjump"/>
          </p:cNvPr>
          <p:cNvSpPr txBox="1"/>
          <p:nvPr/>
        </p:nvSpPr>
        <p:spPr>
          <a:xfrm>
            <a:off x="2057400" y="222199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none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Os custos ocultos de operar de forma fragmentada</a:t>
            </a:r>
            <a:endParaRPr lang="en-US" sz="1050" dirty="0"/>
          </a:p>
        </p:txBody>
      </p:sp>
      <p:sp>
        <p:nvSpPr>
          <p:cNvPr id="8" name="Text 6">
            <a:hlinkClick r:id="rId5" tooltip="" action="ppaction://hlinksldjump"/>
          </p:cNvPr>
          <p:cNvSpPr txBox="1"/>
          <p:nvPr/>
        </p:nvSpPr>
        <p:spPr>
          <a:xfrm>
            <a:off x="9966960" y="187452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u="none" dirty="0">
                <a:solidFill>
                  <a:srgbClr val="17D4A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ABRIR  →</a:t>
            </a:r>
            <a:endParaRPr lang="en-US" sz="950" dirty="0"/>
          </a:p>
        </p:txBody>
      </p:sp>
      <p:sp>
        <p:nvSpPr>
          <p:cNvPr id="9" name="Shape 7">
            <a:hlinkClick r:id="rId6" tooltip="" action="ppaction://hlinksldjump"/>
          </p:cNvPr>
          <p:cNvSpPr/>
          <p:nvPr/>
        </p:nvSpPr>
        <p:spPr>
          <a:xfrm>
            <a:off x="822960" y="2642616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F3568">
                <a:alpha val="12000"/>
              </a:srgbClr>
            </a:outerShdw>
          </a:effectLst>
        </p:spPr>
      </p:sp>
      <p:sp>
        <p:nvSpPr>
          <p:cNvPr id="10" name="Text 8">
            <a:hlinkClick r:id="rId7" tooltip="" action="ppaction://hlinksldjump"/>
          </p:cNvPr>
          <p:cNvSpPr txBox="1"/>
          <p:nvPr/>
        </p:nvSpPr>
        <p:spPr>
          <a:xfrm>
            <a:off x="1078992" y="2642616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u="none" dirty="0">
                <a:solidFill>
                  <a:srgbClr val="0E9C80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02</a:t>
            </a:r>
            <a:endParaRPr lang="en-US" sz="2200" dirty="0"/>
          </a:p>
        </p:txBody>
      </p:sp>
      <p:sp>
        <p:nvSpPr>
          <p:cNvPr id="11" name="Text 9">
            <a:hlinkClick r:id="rId8" tooltip="" action="ppaction://hlinksldjump"/>
          </p:cNvPr>
          <p:cNvSpPr txBox="1"/>
          <p:nvPr/>
        </p:nvSpPr>
        <p:spPr>
          <a:xfrm>
            <a:off x="2057400" y="27157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u="none" dirty="0">
                <a:solidFill>
                  <a:srgbClr val="13182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 Nova Visão</a:t>
            </a:r>
            <a:endParaRPr lang="en-US" sz="1600" dirty="0"/>
          </a:p>
        </p:txBody>
      </p:sp>
      <p:sp>
        <p:nvSpPr>
          <p:cNvPr id="12" name="Text 10">
            <a:hlinkClick r:id="rId9" tooltip="" action="ppaction://hlinksldjump"/>
          </p:cNvPr>
          <p:cNvSpPr txBox="1"/>
          <p:nvPr/>
        </p:nvSpPr>
        <p:spPr>
          <a:xfrm>
            <a:off x="2057400" y="299008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none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 conceito de ecossistema integrado e seu mapa</a:t>
            </a:r>
            <a:endParaRPr lang="en-US" sz="1050" dirty="0"/>
          </a:p>
        </p:txBody>
      </p:sp>
      <p:sp>
        <p:nvSpPr>
          <p:cNvPr id="13" name="Text 11">
            <a:hlinkClick r:id="rId10" tooltip="" action="ppaction://hlinksldjump"/>
          </p:cNvPr>
          <p:cNvSpPr txBox="1"/>
          <p:nvPr/>
        </p:nvSpPr>
        <p:spPr>
          <a:xfrm>
            <a:off x="9966960" y="2642616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u="none" dirty="0">
                <a:solidFill>
                  <a:srgbClr val="17D4A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ABRIR  →</a:t>
            </a:r>
            <a:endParaRPr lang="en-US" sz="950" dirty="0"/>
          </a:p>
        </p:txBody>
      </p:sp>
      <p:sp>
        <p:nvSpPr>
          <p:cNvPr id="14" name="Shape 12">
            <a:hlinkClick r:id="rId11" tooltip="" action="ppaction://hlinksldjump"/>
          </p:cNvPr>
          <p:cNvSpPr/>
          <p:nvPr/>
        </p:nvSpPr>
        <p:spPr>
          <a:xfrm>
            <a:off x="822960" y="3410712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F3568">
                <a:alpha val="12000"/>
              </a:srgbClr>
            </a:outerShdw>
          </a:effectLst>
        </p:spPr>
      </p:sp>
      <p:sp>
        <p:nvSpPr>
          <p:cNvPr id="15" name="Text 13">
            <a:hlinkClick r:id="rId12" tooltip="" action="ppaction://hlinksldjump"/>
          </p:cNvPr>
          <p:cNvSpPr txBox="1"/>
          <p:nvPr/>
        </p:nvSpPr>
        <p:spPr>
          <a:xfrm>
            <a:off x="1078992" y="3410712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u="none" dirty="0">
                <a:solidFill>
                  <a:srgbClr val="0E9C80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03</a:t>
            </a:r>
            <a:endParaRPr lang="en-US" sz="2200" dirty="0"/>
          </a:p>
        </p:txBody>
      </p:sp>
      <p:sp>
        <p:nvSpPr>
          <p:cNvPr id="16" name="Text 14">
            <a:hlinkClick r:id="rId13" tooltip="" action="ppaction://hlinksldjump"/>
          </p:cNvPr>
          <p:cNvSpPr txBox="1"/>
          <p:nvPr/>
        </p:nvSpPr>
        <p:spPr>
          <a:xfrm>
            <a:off x="2057400" y="348386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u="none" dirty="0">
                <a:solidFill>
                  <a:srgbClr val="13182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 Soluções</a:t>
            </a:r>
            <a:endParaRPr lang="en-US" sz="1600" dirty="0"/>
          </a:p>
        </p:txBody>
      </p:sp>
      <p:sp>
        <p:nvSpPr>
          <p:cNvPr id="17" name="Text 15">
            <a:hlinkClick r:id="rId14" tooltip="" action="ppaction://hlinksldjump"/>
          </p:cNvPr>
          <p:cNvSpPr txBox="1"/>
          <p:nvPr/>
        </p:nvSpPr>
        <p:spPr>
          <a:xfrm>
            <a:off x="2057400" y="375818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none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 empresas, 1 sistema — do dado ao resultado</a:t>
            </a:r>
            <a:endParaRPr lang="en-US" sz="1050" dirty="0"/>
          </a:p>
        </p:txBody>
      </p:sp>
      <p:sp>
        <p:nvSpPr>
          <p:cNvPr id="18" name="Text 16">
            <a:hlinkClick r:id="rId15" tooltip="" action="ppaction://hlinksldjump"/>
          </p:cNvPr>
          <p:cNvSpPr txBox="1"/>
          <p:nvPr/>
        </p:nvSpPr>
        <p:spPr>
          <a:xfrm>
            <a:off x="9966960" y="3410712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u="none" dirty="0">
                <a:solidFill>
                  <a:srgbClr val="17D4A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ABRIR  →</a:t>
            </a:r>
            <a:endParaRPr lang="en-US" sz="950" dirty="0"/>
          </a:p>
        </p:txBody>
      </p:sp>
      <p:sp>
        <p:nvSpPr>
          <p:cNvPr id="19" name="Shape 17">
            <a:hlinkClick r:id="rId16" tooltip="" action="ppaction://hlinksldjump"/>
          </p:cNvPr>
          <p:cNvSpPr/>
          <p:nvPr/>
        </p:nvSpPr>
        <p:spPr>
          <a:xfrm>
            <a:off x="822960" y="4178808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F3568">
                <a:alpha val="12000"/>
              </a:srgbClr>
            </a:outerShdw>
          </a:effectLst>
        </p:spPr>
      </p:sp>
      <p:sp>
        <p:nvSpPr>
          <p:cNvPr id="20" name="Text 18">
            <a:hlinkClick r:id="rId17" tooltip="" action="ppaction://hlinksldjump"/>
          </p:cNvPr>
          <p:cNvSpPr txBox="1"/>
          <p:nvPr/>
        </p:nvSpPr>
        <p:spPr>
          <a:xfrm>
            <a:off x="1078992" y="4178808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u="none" dirty="0">
                <a:solidFill>
                  <a:srgbClr val="0E9C80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1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04</a:t>
            </a:r>
            <a:endParaRPr lang="en-US" sz="2200" dirty="0"/>
          </a:p>
        </p:txBody>
      </p:sp>
      <p:sp>
        <p:nvSpPr>
          <p:cNvPr id="21" name="Text 19">
            <a:hlinkClick r:id="rId18" tooltip="" action="ppaction://hlinksldjump"/>
          </p:cNvPr>
          <p:cNvSpPr txBox="1"/>
          <p:nvPr/>
        </p:nvSpPr>
        <p:spPr>
          <a:xfrm>
            <a:off x="2057400" y="4251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u="none" dirty="0">
                <a:solidFill>
                  <a:srgbClr val="13182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 Poder da Integração</a:t>
            </a:r>
            <a:endParaRPr lang="en-US" sz="1600" dirty="0"/>
          </a:p>
        </p:txBody>
      </p:sp>
      <p:sp>
        <p:nvSpPr>
          <p:cNvPr id="22" name="Text 20">
            <a:hlinkClick r:id="rId19" tooltip="" action="ppaction://hlinksldjump"/>
          </p:cNvPr>
          <p:cNvSpPr txBox="1"/>
          <p:nvPr/>
        </p:nvSpPr>
        <p:spPr>
          <a:xfrm>
            <a:off x="2057400" y="45262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none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 fluxo completo: dado, prevenção e ROI</a:t>
            </a:r>
            <a:endParaRPr lang="en-US" sz="1050" dirty="0"/>
          </a:p>
        </p:txBody>
      </p:sp>
      <p:sp>
        <p:nvSpPr>
          <p:cNvPr id="23" name="Text 21">
            <a:hlinkClick r:id="rId20" tooltip="" action="ppaction://hlinksldjump"/>
          </p:cNvPr>
          <p:cNvSpPr txBox="1"/>
          <p:nvPr/>
        </p:nvSpPr>
        <p:spPr>
          <a:xfrm>
            <a:off x="9966960" y="4178808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u="none" dirty="0">
                <a:solidFill>
                  <a:srgbClr val="17D4A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ABRIR  →</a:t>
            </a:r>
            <a:endParaRPr lang="en-US" sz="950" dirty="0"/>
          </a:p>
        </p:txBody>
      </p:sp>
      <p:sp>
        <p:nvSpPr>
          <p:cNvPr id="24" name="Shape 22">
            <a:hlinkClick r:id="rId21" tooltip="" action="ppaction://hlinksldjump"/>
          </p:cNvPr>
          <p:cNvSpPr/>
          <p:nvPr/>
        </p:nvSpPr>
        <p:spPr>
          <a:xfrm>
            <a:off x="822960" y="4946904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F3568">
                <a:alpha val="12000"/>
              </a:srgbClr>
            </a:outerShdw>
          </a:effectLst>
        </p:spPr>
      </p:sp>
      <p:sp>
        <p:nvSpPr>
          <p:cNvPr id="25" name="Text 23">
            <a:hlinkClick r:id="rId22" tooltip="" action="ppaction://hlinksldjump"/>
          </p:cNvPr>
          <p:cNvSpPr txBox="1"/>
          <p:nvPr/>
        </p:nvSpPr>
        <p:spPr>
          <a:xfrm>
            <a:off x="1078992" y="4946904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u="none" dirty="0">
                <a:solidFill>
                  <a:srgbClr val="0E9C80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2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05</a:t>
            </a:r>
            <a:endParaRPr lang="en-US" sz="2200" dirty="0"/>
          </a:p>
        </p:txBody>
      </p:sp>
      <p:sp>
        <p:nvSpPr>
          <p:cNvPr id="26" name="Text 24">
            <a:hlinkClick r:id="rId23" tooltip="" action="ppaction://hlinksldjump"/>
          </p:cNvPr>
          <p:cNvSpPr txBox="1"/>
          <p:nvPr/>
        </p:nvSpPr>
        <p:spPr>
          <a:xfrm>
            <a:off x="2057400" y="502005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u="none" dirty="0">
                <a:solidFill>
                  <a:srgbClr val="13182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 Resultado</a:t>
            </a:r>
            <a:endParaRPr lang="en-US" sz="1600" dirty="0"/>
          </a:p>
        </p:txBody>
      </p:sp>
      <p:sp>
        <p:nvSpPr>
          <p:cNvPr id="27" name="Text 25">
            <a:hlinkClick r:id="rId24" tooltip="" action="ppaction://hlinksldjump"/>
          </p:cNvPr>
          <p:cNvSpPr txBox="1"/>
          <p:nvPr/>
        </p:nvSpPr>
        <p:spPr>
          <a:xfrm>
            <a:off x="2057400" y="529437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none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 transformação, de custo reativo a performance</a:t>
            </a:r>
            <a:endParaRPr lang="en-US" sz="1050" dirty="0"/>
          </a:p>
        </p:txBody>
      </p:sp>
      <p:sp>
        <p:nvSpPr>
          <p:cNvPr id="28" name="Text 26">
            <a:hlinkClick r:id="rId25" tooltip="" action="ppaction://hlinksldjump"/>
          </p:cNvPr>
          <p:cNvSpPr txBox="1"/>
          <p:nvPr/>
        </p:nvSpPr>
        <p:spPr>
          <a:xfrm>
            <a:off x="9966960" y="4946904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u="none" dirty="0">
                <a:solidFill>
                  <a:srgbClr val="17D4A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ABRIR  →</a:t>
            </a:r>
            <a:endParaRPr lang="en-US" sz="950" dirty="0"/>
          </a:p>
        </p:txBody>
      </p:sp>
      <p:sp>
        <p:nvSpPr>
          <p:cNvPr id="29" name="Shape 27">
            <a:hlinkClick r:id="rId26" tooltip="" action="ppaction://hlinksldjump"/>
          </p:cNvPr>
          <p:cNvSpPr/>
          <p:nvPr/>
        </p:nvSpPr>
        <p:spPr>
          <a:xfrm>
            <a:off x="822960" y="5989320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0F1B3C"/>
          </a:solidFill>
          <a:ln/>
        </p:spPr>
      </p:sp>
      <p:sp>
        <p:nvSpPr>
          <p:cNvPr id="30" name="Text 28">
            <a:hlinkClick r:id="rId27" tooltip="" action="ppaction://hlinksldjump"/>
          </p:cNvPr>
          <p:cNvSpPr txBox="1"/>
          <p:nvPr/>
        </p:nvSpPr>
        <p:spPr>
          <a:xfrm>
            <a:off x="822960" y="598932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u="none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FourLife</a:t>
            </a:r>
            <a:endParaRPr lang="en-US" sz="900" dirty="0"/>
          </a:p>
        </p:txBody>
      </p:sp>
      <p:sp>
        <p:nvSpPr>
          <p:cNvPr id="31" name="Shape 29">
            <a:hlinkClick r:id="rId28" tooltip="" action="ppaction://hlinksldjump"/>
          </p:cNvPr>
          <p:cNvSpPr/>
          <p:nvPr/>
        </p:nvSpPr>
        <p:spPr>
          <a:xfrm>
            <a:off x="1993392" y="5989320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0F1B3C"/>
          </a:solidFill>
          <a:ln/>
        </p:spPr>
      </p:sp>
      <p:sp>
        <p:nvSpPr>
          <p:cNvPr id="32" name="Text 30">
            <a:hlinkClick r:id="rId29" tooltip="" action="ppaction://hlinksldjump"/>
          </p:cNvPr>
          <p:cNvSpPr txBox="1"/>
          <p:nvPr/>
        </p:nvSpPr>
        <p:spPr>
          <a:xfrm>
            <a:off x="1993392" y="598932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u="none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AVall.iÔ</a:t>
            </a:r>
            <a:endParaRPr lang="en-US" sz="900" dirty="0"/>
          </a:p>
        </p:txBody>
      </p:sp>
      <p:sp>
        <p:nvSpPr>
          <p:cNvPr id="33" name="Shape 31">
            <a:hlinkClick r:id="rId30" tooltip="" action="ppaction://hlinksldjump"/>
          </p:cNvPr>
          <p:cNvSpPr/>
          <p:nvPr/>
        </p:nvSpPr>
        <p:spPr>
          <a:xfrm>
            <a:off x="3163824" y="5989320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0F1B3C"/>
          </a:solidFill>
          <a:ln/>
        </p:spPr>
      </p:sp>
      <p:sp>
        <p:nvSpPr>
          <p:cNvPr id="34" name="Text 32">
            <a:hlinkClick r:id="rId31" tooltip="" action="ppaction://hlinksldjump"/>
          </p:cNvPr>
          <p:cNvSpPr txBox="1"/>
          <p:nvPr/>
        </p:nvSpPr>
        <p:spPr>
          <a:xfrm>
            <a:off x="3163824" y="598932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u="none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SGG</a:t>
            </a:r>
            <a:endParaRPr lang="en-US" sz="900" dirty="0"/>
          </a:p>
        </p:txBody>
      </p:sp>
      <p:sp>
        <p:nvSpPr>
          <p:cNvPr id="35" name="Shape 33">
            <a:hlinkClick r:id="rId32" tooltip="" action="ppaction://hlinksldjump"/>
          </p:cNvPr>
          <p:cNvSpPr/>
          <p:nvPr/>
        </p:nvSpPr>
        <p:spPr>
          <a:xfrm>
            <a:off x="4059936" y="5989320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0F1B3C"/>
          </a:solidFill>
          <a:ln/>
        </p:spPr>
      </p:sp>
      <p:sp>
        <p:nvSpPr>
          <p:cNvPr id="36" name="Text 34">
            <a:hlinkClick r:id="rId33" tooltip="" action="ppaction://hlinksldjump"/>
          </p:cNvPr>
          <p:cNvSpPr txBox="1"/>
          <p:nvPr/>
        </p:nvSpPr>
        <p:spPr>
          <a:xfrm>
            <a:off x="4059936" y="598932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u="none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LabDuo</a:t>
            </a:r>
            <a:endParaRPr lang="en-US" sz="900" dirty="0"/>
          </a:p>
        </p:txBody>
      </p:sp>
      <p:sp>
        <p:nvSpPr>
          <p:cNvPr id="37" name="Shape 35">
            <a:hlinkClick r:id="rId34" tooltip="" action="ppaction://hlinksldjump"/>
          </p:cNvPr>
          <p:cNvSpPr/>
          <p:nvPr/>
        </p:nvSpPr>
        <p:spPr>
          <a:xfrm>
            <a:off x="5138928" y="5989320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0F1B3C"/>
          </a:solidFill>
          <a:ln/>
        </p:spPr>
      </p:sp>
      <p:sp>
        <p:nvSpPr>
          <p:cNvPr id="38" name="Text 36">
            <a:hlinkClick r:id="rId35" tooltip="" action="ppaction://hlinksldjump"/>
          </p:cNvPr>
          <p:cNvSpPr txBox="1"/>
          <p:nvPr/>
        </p:nvSpPr>
        <p:spPr>
          <a:xfrm>
            <a:off x="5138928" y="598932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u="none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ZapVida</a:t>
            </a:r>
            <a:endParaRPr lang="en-US" sz="900" dirty="0"/>
          </a:p>
        </p:txBody>
      </p:sp>
      <p:sp>
        <p:nvSpPr>
          <p:cNvPr id="39" name="Shape 37">
            <a:hlinkClick r:id="rId36" tooltip="" action="ppaction://hlinksldjump"/>
          </p:cNvPr>
          <p:cNvSpPr/>
          <p:nvPr/>
        </p:nvSpPr>
        <p:spPr>
          <a:xfrm>
            <a:off x="6309360" y="5989320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0F1B3C"/>
          </a:solidFill>
          <a:ln/>
        </p:spPr>
      </p:sp>
      <p:sp>
        <p:nvSpPr>
          <p:cNvPr id="40" name="Text 38">
            <a:hlinkClick r:id="rId37" tooltip="" action="ppaction://hlinksldjump"/>
          </p:cNvPr>
          <p:cNvSpPr txBox="1"/>
          <p:nvPr/>
        </p:nvSpPr>
        <p:spPr>
          <a:xfrm>
            <a:off x="6309360" y="598932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u="none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Uninovia</a:t>
            </a:r>
            <a:endParaRPr lang="en-US" sz="900" dirty="0"/>
          </a:p>
        </p:txBody>
      </p:sp>
      <p:sp>
        <p:nvSpPr>
          <p:cNvPr id="41" name="Shape 39">
            <a:hlinkClick r:id="rId38" tooltip="" action="ppaction://hlinksldjump"/>
          </p:cNvPr>
          <p:cNvSpPr/>
          <p:nvPr/>
        </p:nvSpPr>
        <p:spPr>
          <a:xfrm>
            <a:off x="7571232" y="5989320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0F1B3C"/>
          </a:solidFill>
          <a:ln/>
        </p:spPr>
      </p:sp>
      <p:sp>
        <p:nvSpPr>
          <p:cNvPr id="42" name="Text 40">
            <a:hlinkClick r:id="rId39" tooltip="" action="ppaction://hlinksldjump"/>
          </p:cNvPr>
          <p:cNvSpPr txBox="1"/>
          <p:nvPr/>
        </p:nvSpPr>
        <p:spPr>
          <a:xfrm>
            <a:off x="7571232" y="59893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u="none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Orion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11002975" y="65471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hlinkClick r:id="rId1" tooltip="" action="ppaction://hlinksldjump"/>
          </p:cNvPr>
          <p:cNvSpPr/>
          <p:nvPr/>
        </p:nvSpPr>
        <p:spPr>
          <a:xfrm>
            <a:off x="10134295" y="384048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8B96C4"/>
            </a:solidFill>
            <a:prstDash val="solid"/>
          </a:ln>
        </p:spPr>
      </p:sp>
      <p:sp>
        <p:nvSpPr>
          <p:cNvPr id="3" name="Text 1">
            <a:hlinkClick r:id="rId2" tooltip="" action="ppaction://hlinksldjump"/>
          </p:cNvPr>
          <p:cNvSpPr txBox="1"/>
          <p:nvPr/>
        </p:nvSpPr>
        <p:spPr>
          <a:xfrm>
            <a:off x="10134295" y="38404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◂ ÍNDICE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58368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17D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1 — O DESAFIO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23444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empresas não perdem</a:t>
            </a:r>
            <a:endParaRPr lang="en-US" sz="38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falta de esforço.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803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AEB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Perdem porque saúde, segurança, dados e pessoas são geridos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AEB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sistemas separados — que não conversam entre si.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16052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7D4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+35%</a:t>
            </a:r>
            <a:endParaRPr lang="en-US" sz="4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93776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EB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custo de SST é burocracia,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EB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prevenção real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416052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7D4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em 3</a:t>
            </a:r>
            <a:endParaRPr lang="en-US" sz="4200" dirty="0"/>
          </a:p>
        </p:txBody>
      </p:sp>
      <p:sp>
        <p:nvSpPr>
          <p:cNvPr id="10" name="Text 8"/>
          <p:cNvSpPr txBox="1"/>
          <p:nvPr/>
        </p:nvSpPr>
        <p:spPr>
          <a:xfrm>
            <a:off x="4389120" y="493776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EB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colaboradores relata risco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EB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psicossocial não mapeado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955280" y="416052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7D4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2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93776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EB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integrados entre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EB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saúde, dados e performance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471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B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ECOSSISTEMA INTEGRADO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1002975" y="65471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hlinkClick r:id="rId1" tooltip="" action="ppaction://hlinksldjump"/>
          </p:cNvPr>
          <p:cNvSpPr/>
          <p:nvPr/>
        </p:nvSpPr>
        <p:spPr>
          <a:xfrm>
            <a:off x="10134295" y="384048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8B96C4"/>
            </a:solidFill>
            <a:prstDash val="solid"/>
          </a:ln>
        </p:spPr>
      </p:sp>
      <p:sp>
        <p:nvSpPr>
          <p:cNvPr id="3" name="Text 1">
            <a:hlinkClick r:id="rId2" tooltip="" action="ppaction://hlinksldjump"/>
          </p:cNvPr>
          <p:cNvSpPr txBox="1"/>
          <p:nvPr/>
        </p:nvSpPr>
        <p:spPr>
          <a:xfrm>
            <a:off x="10134295" y="38404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◂ ÍNDICE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58368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17D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1 — O DESAFIO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0515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Seis sintomas de um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fragmentado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585216" cy="585216"/>
          </a:xfrm>
          <a:prstGeom prst="ellipse">
            <a:avLst/>
          </a:prstGeom>
          <a:solidFill>
            <a:srgbClr val="182A5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412" y="2655052"/>
            <a:ext cx="304312" cy="3043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172968"/>
            <a:ext cx="321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Custos elevados e fragmentados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538728"/>
            <a:ext cx="321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frente paga por sua própria estrutura, sem ganho de escala.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495800" y="2514600"/>
            <a:ext cx="585216" cy="585216"/>
          </a:xfrm>
          <a:prstGeom prst="ellipse">
            <a:avLst/>
          </a:prstGeom>
          <a:solidFill>
            <a:srgbClr val="182A5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252" y="2655052"/>
            <a:ext cx="304312" cy="3043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95800" y="3172968"/>
            <a:ext cx="321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 e segurança como burocracia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4495800" y="3538728"/>
            <a:ext cx="321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SST tratada como obrigação legal, não como investimento.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168640" y="2514600"/>
            <a:ext cx="585216" cy="585216"/>
          </a:xfrm>
          <a:prstGeom prst="ellipse">
            <a:avLst/>
          </a:prstGeom>
          <a:solidFill>
            <a:srgbClr val="182A5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9092" y="2655052"/>
            <a:ext cx="304312" cy="30431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168640" y="3172968"/>
            <a:ext cx="321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 psicossociais invisíveis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8168640" y="3538728"/>
            <a:ext cx="321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Conflitos e burnout só aparecem quando já custaram caro.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822960" y="4343400"/>
            <a:ext cx="585216" cy="585216"/>
          </a:xfrm>
          <a:prstGeom prst="ellipse">
            <a:avLst/>
          </a:prstGeom>
          <a:solidFill>
            <a:srgbClr val="182A56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3412" y="4483852"/>
            <a:ext cx="304312" cy="30431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22960" y="5001768"/>
            <a:ext cx="321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desconectados das decisões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822960" y="5367528"/>
            <a:ext cx="321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existe, mas não chega a quem decide.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4495800" y="4343400"/>
            <a:ext cx="585216" cy="585216"/>
          </a:xfrm>
          <a:prstGeom prst="ellipse">
            <a:avLst/>
          </a:prstGeom>
          <a:solidFill>
            <a:srgbClr val="182A56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6252" y="4483852"/>
            <a:ext cx="304312" cy="30431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4495800" y="5001768"/>
            <a:ext cx="321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 engajamento das equipes</a:t>
            </a:r>
            <a:endParaRPr lang="en-US" sz="1300" dirty="0"/>
          </a:p>
        </p:txBody>
      </p:sp>
      <p:sp>
        <p:nvSpPr>
          <p:cNvPr id="25" name="Text 18"/>
          <p:cNvSpPr txBox="1"/>
          <p:nvPr/>
        </p:nvSpPr>
        <p:spPr>
          <a:xfrm>
            <a:off x="4495800" y="5367528"/>
            <a:ext cx="321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Colaboradores desconectados da estratégia da empresa.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8168640" y="4343400"/>
            <a:ext cx="585216" cy="585216"/>
          </a:xfrm>
          <a:prstGeom prst="ellipse">
            <a:avLst/>
          </a:prstGeom>
          <a:solidFill>
            <a:srgbClr val="182A56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9092" y="4483852"/>
            <a:ext cx="304312" cy="304312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8168640" y="5001768"/>
            <a:ext cx="321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Produtividade x bem-estar</a:t>
            </a:r>
            <a:endParaRPr lang="en-US" sz="1300" dirty="0"/>
          </a:p>
        </p:txBody>
      </p:sp>
      <p:sp>
        <p:nvSpPr>
          <p:cNvPr id="29" name="Text 21"/>
          <p:cNvSpPr txBox="1"/>
          <p:nvPr/>
        </p:nvSpPr>
        <p:spPr>
          <a:xfrm>
            <a:off x="8168640" y="5367528"/>
            <a:ext cx="321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B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pressão por resultado ainda concorre com a saúde do time.</a:t>
            </a:r>
            <a:endParaRPr lang="en-US" sz="1000" dirty="0"/>
          </a:p>
        </p:txBody>
      </p:sp>
      <p:sp>
        <p:nvSpPr>
          <p:cNvPr id="30" name="Text 22"/>
          <p:cNvSpPr txBox="1"/>
          <p:nvPr/>
        </p:nvSpPr>
        <p:spPr>
          <a:xfrm>
            <a:off x="457200" y="65471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B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ECOSSISTEMA INTEGRADO</a:t>
            </a:r>
            <a:endParaRPr lang="en-US" sz="800" dirty="0"/>
          </a:p>
        </p:txBody>
      </p:sp>
      <p:sp>
        <p:nvSpPr>
          <p:cNvPr id="31" name="Text 23"/>
          <p:cNvSpPr txBox="1"/>
          <p:nvPr/>
        </p:nvSpPr>
        <p:spPr>
          <a:xfrm>
            <a:off x="11002975" y="65471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hlinkClick r:id="rId1" tooltip="" action="ppaction://hlinksldjump"/>
          </p:cNvPr>
          <p:cNvSpPr/>
          <p:nvPr/>
        </p:nvSpPr>
        <p:spPr>
          <a:xfrm>
            <a:off x="10134295" y="384048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F1B3C">
              <a:alpha val="8000"/>
            </a:srgbClr>
          </a:solidFill>
          <a:ln w="9525">
            <a:solidFill>
              <a:srgbClr val="5B6690"/>
            </a:solidFill>
            <a:prstDash val="solid"/>
          </a:ln>
        </p:spPr>
      </p:sp>
      <p:sp>
        <p:nvSpPr>
          <p:cNvPr id="3" name="Text 1">
            <a:hlinkClick r:id="rId2" tooltip="" action="ppaction://hlinksldjump"/>
          </p:cNvPr>
          <p:cNvSpPr txBox="1"/>
          <p:nvPr/>
        </p:nvSpPr>
        <p:spPr>
          <a:xfrm>
            <a:off x="10134295" y="38404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◂ ÍNDICE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58368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0E9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2 — A NOVA VISÃO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23444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3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desafios não se resolvem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3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soluções isoladas.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2788920"/>
            <a:ext cx="10561320" cy="1965960"/>
          </a:xfrm>
          <a:prstGeom prst="roundRect">
            <a:avLst>
              <a:gd name="adj" fmla="val 4651"/>
            </a:avLst>
          </a:prstGeom>
          <a:solidFill>
            <a:srgbClr val="0F1B3C"/>
          </a:solidFill>
          <a:ln/>
          <a:effectLst>
            <a:outerShdw sx="100000" sy="100000" kx="0" ky="0" algn="bl" rotWithShape="0" blurRad="177800" dist="38100" dir="5400000">
              <a:srgbClr val="1F3568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234440" y="3063240"/>
            <a:ext cx="9738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“Quando saúde, segurança, educação, tecnologia e estratégia</a:t>
            </a:r>
            <a:endParaRPr lang="en-US" sz="1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trabalham juntas, a empresa deixa de apenas reagir aos</a:t>
            </a:r>
            <a:endParaRPr lang="en-US" sz="1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problemas — e passa a antecipar resultados.”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7D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CONCEITO DE ECOSSISTEMA INTEGRADO</a:t>
            </a:r>
            <a:endParaRPr lang="en-US" sz="1000" dirty="0"/>
          </a:p>
        </p:txBody>
      </p:sp>
      <p:sp>
        <p:nvSpPr>
          <p:cNvPr id="9" name="Text 7">
            <a:hlinkClick r:id="rId3" tooltip="" action="ppaction://hlinksldjump"/>
          </p:cNvPr>
          <p:cNvSpPr txBox="1"/>
          <p:nvPr/>
        </p:nvSpPr>
        <p:spPr>
          <a:xfrm>
            <a:off x="822960" y="5166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u="none" dirty="0">
                <a:solidFill>
                  <a:srgbClr val="0E9C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Veja o mapa do ecossistema  →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5471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ECOSSISTEMA INTEGRADO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11002975" y="65471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hlinkClick r:id="rId1" tooltip="" action="ppaction://hlinksldjump"/>
          </p:cNvPr>
          <p:cNvSpPr/>
          <p:nvPr/>
        </p:nvSpPr>
        <p:spPr>
          <a:xfrm>
            <a:off x="10134295" y="384048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8B96C4"/>
            </a:solidFill>
            <a:prstDash val="solid"/>
          </a:ln>
        </p:spPr>
      </p:sp>
      <p:sp>
        <p:nvSpPr>
          <p:cNvPr id="3" name="Text 1">
            <a:hlinkClick r:id="rId2" tooltip="" action="ppaction://hlinksldjump"/>
          </p:cNvPr>
          <p:cNvSpPr txBox="1"/>
          <p:nvPr/>
        </p:nvSpPr>
        <p:spPr>
          <a:xfrm>
            <a:off x="10134295" y="38404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◂ ÍNDICE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502920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17D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2 — O MAPA DO ECOSSISTEMA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8229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FourLife no centro. Seis soluções conectadas a um único resultado.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 flipV="1">
            <a:off x="6096305" y="2560320"/>
            <a:ext cx="9144" cy="1664208"/>
          </a:xfrm>
          <a:prstGeom prst="line">
            <a:avLst/>
          </a:prstGeom>
          <a:noFill/>
          <a:ln w="15875">
            <a:solidFill>
              <a:srgbClr val="17D4AC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6096305" y="3392424"/>
            <a:ext cx="3048790" cy="832104"/>
          </a:xfrm>
          <a:prstGeom prst="line">
            <a:avLst/>
          </a:prstGeom>
          <a:noFill/>
          <a:ln w="15875">
            <a:solidFill>
              <a:srgbClr val="17D4AC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6305" y="4224528"/>
            <a:ext cx="3048790" cy="832104"/>
          </a:xfrm>
          <a:prstGeom prst="line">
            <a:avLst/>
          </a:prstGeom>
          <a:noFill/>
          <a:ln w="15875">
            <a:solidFill>
              <a:srgbClr val="17D4AC">
                <a:alpha val="5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96305" y="4224528"/>
            <a:ext cx="9144" cy="1664208"/>
          </a:xfrm>
          <a:prstGeom prst="line">
            <a:avLst/>
          </a:prstGeom>
          <a:noFill/>
          <a:ln w="15875">
            <a:solidFill>
              <a:srgbClr val="17D4AC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3047514" y="4224528"/>
            <a:ext cx="3048790" cy="832104"/>
          </a:xfrm>
          <a:prstGeom prst="line">
            <a:avLst/>
          </a:prstGeom>
          <a:noFill/>
          <a:ln w="15875">
            <a:solidFill>
              <a:srgbClr val="17D4AC">
                <a:alpha val="5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 flipV="1">
            <a:off x="3047514" y="3392424"/>
            <a:ext cx="3048790" cy="832104"/>
          </a:xfrm>
          <a:prstGeom prst="line">
            <a:avLst/>
          </a:prstGeom>
          <a:noFill/>
          <a:ln w="15875">
            <a:solidFill>
              <a:srgbClr val="17D4AC">
                <a:alpha val="5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27625" y="3355848"/>
            <a:ext cx="1737360" cy="1737360"/>
          </a:xfrm>
          <a:prstGeom prst="ellipse">
            <a:avLst/>
          </a:prstGeom>
          <a:solidFill>
            <a:srgbClr val="1F3568"/>
          </a:solidFill>
          <a:ln w="25400">
            <a:solidFill>
              <a:srgbClr val="17D4AC"/>
            </a:solidFill>
            <a:prstDash val="solid"/>
          </a:ln>
        </p:spPr>
      </p:sp>
      <p:sp>
        <p:nvSpPr>
          <p:cNvPr id="13" name="Text 11">
            <a:hlinkClick r:id="rId3" tooltip="" action="ppaction://hlinksldjump"/>
          </p:cNvPr>
          <p:cNvSpPr txBox="1"/>
          <p:nvPr/>
        </p:nvSpPr>
        <p:spPr>
          <a:xfrm>
            <a:off x="5227625" y="38404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u="none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FourLife</a:t>
            </a:r>
            <a:endParaRPr lang="en-US" sz="1600" dirty="0"/>
          </a:p>
        </p:txBody>
      </p:sp>
      <p:sp>
        <p:nvSpPr>
          <p:cNvPr id="14" name="Text 12">
            <a:hlinkClick r:id="rId4" tooltip="" action="ppaction://hlinksldjump"/>
          </p:cNvPr>
          <p:cNvSpPr txBox="1"/>
          <p:nvPr/>
        </p:nvSpPr>
        <p:spPr>
          <a:xfrm>
            <a:off x="5227625" y="422452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u="none" dirty="0">
                <a:solidFill>
                  <a:srgbClr val="17D4A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Gestora do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u="none" dirty="0">
                <a:solidFill>
                  <a:srgbClr val="17D4A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Ecossistema</a:t>
            </a:r>
            <a:endParaRPr lang="en-US" sz="850" dirty="0"/>
          </a:p>
        </p:txBody>
      </p:sp>
      <p:sp>
        <p:nvSpPr>
          <p:cNvPr id="15" name="Shape 13">
            <a:hlinkClick r:id="rId5" tooltip="" action="ppaction://hlinksldjump"/>
          </p:cNvPr>
          <p:cNvSpPr/>
          <p:nvPr/>
        </p:nvSpPr>
        <p:spPr>
          <a:xfrm>
            <a:off x="5547665" y="2011680"/>
            <a:ext cx="1097280" cy="1097280"/>
          </a:xfrm>
          <a:prstGeom prst="ellipse">
            <a:avLst/>
          </a:prstGeom>
          <a:solidFill>
            <a:srgbClr val="2FB84E"/>
          </a:solidFill>
          <a:ln w="38100">
            <a:solidFill>
              <a:srgbClr val="0F1B3C"/>
            </a:solidFill>
            <a:prstDash val="solid"/>
          </a:ln>
        </p:spPr>
      </p:sp>
      <p:sp>
        <p:nvSpPr>
          <p:cNvPr id="16" name="Text 14">
            <a:hlinkClick r:id="rId6" tooltip="" action="ppaction://hlinksldjump"/>
          </p:cNvPr>
          <p:cNvSpPr txBox="1"/>
          <p:nvPr/>
        </p:nvSpPr>
        <p:spPr>
          <a:xfrm>
            <a:off x="5547665" y="20116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none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AV</a:t>
            </a:r>
            <a:endParaRPr lang="en-US" sz="1500" dirty="0"/>
          </a:p>
        </p:txBody>
      </p:sp>
      <p:sp>
        <p:nvSpPr>
          <p:cNvPr id="17" name="Text 15">
            <a:hlinkClick r:id="rId7" tooltip="" action="ppaction://hlinksldjump"/>
          </p:cNvPr>
          <p:cNvSpPr txBox="1"/>
          <p:nvPr/>
        </p:nvSpPr>
        <p:spPr>
          <a:xfrm>
            <a:off x="5090465" y="17007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none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AVall.iÔ</a:t>
            </a:r>
            <a:endParaRPr lang="en-US" sz="1100" dirty="0"/>
          </a:p>
        </p:txBody>
      </p:sp>
      <p:sp>
        <p:nvSpPr>
          <p:cNvPr id="18" name="Shape 16">
            <a:hlinkClick r:id="rId8" tooltip="" action="ppaction://hlinksldjump"/>
          </p:cNvPr>
          <p:cNvSpPr/>
          <p:nvPr/>
        </p:nvSpPr>
        <p:spPr>
          <a:xfrm>
            <a:off x="8596455" y="2843784"/>
            <a:ext cx="1097280" cy="1097280"/>
          </a:xfrm>
          <a:prstGeom prst="ellipse">
            <a:avLst/>
          </a:prstGeom>
          <a:solidFill>
            <a:srgbClr val="0E6E76"/>
          </a:solidFill>
          <a:ln w="38100">
            <a:solidFill>
              <a:srgbClr val="0F1B3C"/>
            </a:solidFill>
            <a:prstDash val="solid"/>
          </a:ln>
        </p:spPr>
      </p:sp>
      <p:sp>
        <p:nvSpPr>
          <p:cNvPr id="19" name="Text 17">
            <a:hlinkClick r:id="rId9" tooltip="" action="ppaction://hlinksldjump"/>
          </p:cNvPr>
          <p:cNvSpPr txBox="1"/>
          <p:nvPr/>
        </p:nvSpPr>
        <p:spPr>
          <a:xfrm>
            <a:off x="8596455" y="2843784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none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SGG</a:t>
            </a:r>
            <a:endParaRPr lang="en-US" sz="1200" dirty="0"/>
          </a:p>
        </p:txBody>
      </p:sp>
      <p:sp>
        <p:nvSpPr>
          <p:cNvPr id="20" name="Text 18">
            <a:hlinkClick r:id="rId10" tooltip="" action="ppaction://hlinksldjump"/>
          </p:cNvPr>
          <p:cNvSpPr txBox="1"/>
          <p:nvPr/>
        </p:nvSpPr>
        <p:spPr>
          <a:xfrm>
            <a:off x="8139255" y="25328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none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SGG · SST &amp; eSocial</a:t>
            </a:r>
            <a:endParaRPr lang="en-US" sz="1100" dirty="0"/>
          </a:p>
        </p:txBody>
      </p:sp>
      <p:sp>
        <p:nvSpPr>
          <p:cNvPr id="21" name="Shape 19">
            <a:hlinkClick r:id="rId11" tooltip="" action="ppaction://hlinksldjump"/>
          </p:cNvPr>
          <p:cNvSpPr/>
          <p:nvPr/>
        </p:nvSpPr>
        <p:spPr>
          <a:xfrm>
            <a:off x="8596455" y="4507992"/>
            <a:ext cx="1097280" cy="1097280"/>
          </a:xfrm>
          <a:prstGeom prst="ellipse">
            <a:avLst/>
          </a:prstGeom>
          <a:solidFill>
            <a:srgbClr val="1CA6A6"/>
          </a:solidFill>
          <a:ln w="38100">
            <a:solidFill>
              <a:srgbClr val="0F1B3C"/>
            </a:solidFill>
            <a:prstDash val="solid"/>
          </a:ln>
        </p:spPr>
      </p:sp>
      <p:sp>
        <p:nvSpPr>
          <p:cNvPr id="22" name="Text 20">
            <a:hlinkClick r:id="rId12" tooltip="" action="ppaction://hlinksldjump"/>
          </p:cNvPr>
          <p:cNvSpPr txBox="1"/>
          <p:nvPr/>
        </p:nvSpPr>
        <p:spPr>
          <a:xfrm>
            <a:off x="8596455" y="4507992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none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LD</a:t>
            </a:r>
            <a:endParaRPr lang="en-US" sz="1500" dirty="0"/>
          </a:p>
        </p:txBody>
      </p:sp>
      <p:sp>
        <p:nvSpPr>
          <p:cNvPr id="23" name="Text 21">
            <a:hlinkClick r:id="rId13" tooltip="" action="ppaction://hlinksldjump"/>
          </p:cNvPr>
          <p:cNvSpPr txBox="1"/>
          <p:nvPr/>
        </p:nvSpPr>
        <p:spPr>
          <a:xfrm>
            <a:off x="8139255" y="56601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none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Grupo LabDuo</a:t>
            </a:r>
            <a:endParaRPr lang="en-US" sz="1100" dirty="0"/>
          </a:p>
        </p:txBody>
      </p:sp>
      <p:sp>
        <p:nvSpPr>
          <p:cNvPr id="24" name="Shape 22">
            <a:hlinkClick r:id="rId14" tooltip="" action="ppaction://hlinksldjump"/>
          </p:cNvPr>
          <p:cNvSpPr/>
          <p:nvPr/>
        </p:nvSpPr>
        <p:spPr>
          <a:xfrm>
            <a:off x="5547665" y="5340096"/>
            <a:ext cx="1097280" cy="1097280"/>
          </a:xfrm>
          <a:prstGeom prst="ellipse">
            <a:avLst/>
          </a:prstGeom>
          <a:solidFill>
            <a:srgbClr val="5BC0E8"/>
          </a:solidFill>
          <a:ln w="38100">
            <a:solidFill>
              <a:srgbClr val="0F1B3C"/>
            </a:solidFill>
            <a:prstDash val="solid"/>
          </a:ln>
        </p:spPr>
      </p:sp>
      <p:sp>
        <p:nvSpPr>
          <p:cNvPr id="25" name="Text 23">
            <a:hlinkClick r:id="rId15" tooltip="" action="ppaction://hlinksldjump"/>
          </p:cNvPr>
          <p:cNvSpPr txBox="1"/>
          <p:nvPr/>
        </p:nvSpPr>
        <p:spPr>
          <a:xfrm>
            <a:off x="5547665" y="5340096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none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ZV</a:t>
            </a:r>
            <a:endParaRPr lang="en-US" sz="1500" dirty="0"/>
          </a:p>
        </p:txBody>
      </p:sp>
      <p:sp>
        <p:nvSpPr>
          <p:cNvPr id="26" name="Text 24">
            <a:hlinkClick r:id="rId16" tooltip="" action="ppaction://hlinksldjump"/>
          </p:cNvPr>
          <p:cNvSpPr txBox="1"/>
          <p:nvPr/>
        </p:nvSpPr>
        <p:spPr>
          <a:xfrm>
            <a:off x="5090465" y="6492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none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ZapVida</a:t>
            </a:r>
            <a:endParaRPr lang="en-US" sz="1100" dirty="0"/>
          </a:p>
        </p:txBody>
      </p:sp>
      <p:sp>
        <p:nvSpPr>
          <p:cNvPr id="27" name="Shape 25">
            <a:hlinkClick r:id="rId17" tooltip="" action="ppaction://hlinksldjump"/>
          </p:cNvPr>
          <p:cNvSpPr/>
          <p:nvPr/>
        </p:nvSpPr>
        <p:spPr>
          <a:xfrm>
            <a:off x="2498874" y="4507992"/>
            <a:ext cx="1097280" cy="1097280"/>
          </a:xfrm>
          <a:prstGeom prst="ellipse">
            <a:avLst/>
          </a:prstGeom>
          <a:solidFill>
            <a:srgbClr val="8B3FD1"/>
          </a:solidFill>
          <a:ln w="38100">
            <a:solidFill>
              <a:srgbClr val="0F1B3C"/>
            </a:solidFill>
            <a:prstDash val="solid"/>
          </a:ln>
        </p:spPr>
      </p:sp>
      <p:sp>
        <p:nvSpPr>
          <p:cNvPr id="28" name="Text 26">
            <a:hlinkClick r:id="rId18" tooltip="" action="ppaction://hlinksldjump"/>
          </p:cNvPr>
          <p:cNvSpPr txBox="1"/>
          <p:nvPr/>
        </p:nvSpPr>
        <p:spPr>
          <a:xfrm>
            <a:off x="2498874" y="4507992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none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</a:t>
            </a:r>
            <a:endParaRPr lang="en-US" sz="1500" dirty="0"/>
          </a:p>
        </p:txBody>
      </p:sp>
      <p:sp>
        <p:nvSpPr>
          <p:cNvPr id="29" name="Text 27">
            <a:hlinkClick r:id="rId19" tooltip="" action="ppaction://hlinksldjump"/>
          </p:cNvPr>
          <p:cNvSpPr txBox="1"/>
          <p:nvPr/>
        </p:nvSpPr>
        <p:spPr>
          <a:xfrm>
            <a:off x="2041674" y="56601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none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Uninovia</a:t>
            </a:r>
            <a:endParaRPr lang="en-US" sz="1100" dirty="0"/>
          </a:p>
        </p:txBody>
      </p:sp>
      <p:sp>
        <p:nvSpPr>
          <p:cNvPr id="30" name="Shape 28">
            <a:hlinkClick r:id="rId20" tooltip="" action="ppaction://hlinksldjump"/>
          </p:cNvPr>
          <p:cNvSpPr/>
          <p:nvPr/>
        </p:nvSpPr>
        <p:spPr>
          <a:xfrm>
            <a:off x="2498874" y="2843784"/>
            <a:ext cx="1097280" cy="1097280"/>
          </a:xfrm>
          <a:prstGeom prst="ellipse">
            <a:avLst/>
          </a:prstGeom>
          <a:solidFill>
            <a:srgbClr val="15181F"/>
          </a:solidFill>
          <a:ln w="38100">
            <a:solidFill>
              <a:srgbClr val="0F1B3C"/>
            </a:solidFill>
            <a:prstDash val="solid"/>
          </a:ln>
        </p:spPr>
      </p:sp>
      <p:sp>
        <p:nvSpPr>
          <p:cNvPr id="31" name="Text 29">
            <a:hlinkClick r:id="rId21" tooltip="" action="ppaction://hlinksldjump"/>
          </p:cNvPr>
          <p:cNvSpPr txBox="1"/>
          <p:nvPr/>
        </p:nvSpPr>
        <p:spPr>
          <a:xfrm>
            <a:off x="2498874" y="2843784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none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</a:t>
            </a:r>
            <a:endParaRPr lang="en-US" sz="1500" dirty="0"/>
          </a:p>
        </p:txBody>
      </p:sp>
      <p:sp>
        <p:nvSpPr>
          <p:cNvPr id="32" name="Text 30">
            <a:hlinkClick r:id="rId22" tooltip="" action="ppaction://hlinksldjump"/>
          </p:cNvPr>
          <p:cNvSpPr txBox="1"/>
          <p:nvPr/>
        </p:nvSpPr>
        <p:spPr>
          <a:xfrm>
            <a:off x="2041674" y="25328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none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Agência Orion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5471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B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ECOSSISTEMA INTEGRADO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11002975" y="65471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hlinkClick r:id="rId1" tooltip="" action="ppaction://hlinksldjump"/>
          </p:cNvPr>
          <p:cNvSpPr/>
          <p:nvPr/>
        </p:nvSpPr>
        <p:spPr>
          <a:xfrm>
            <a:off x="10134295" y="384048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F1B3C">
              <a:alpha val="8000"/>
            </a:srgbClr>
          </a:solidFill>
          <a:ln w="9525">
            <a:solidFill>
              <a:srgbClr val="5B6690"/>
            </a:solidFill>
            <a:prstDash val="solid"/>
          </a:ln>
        </p:spPr>
      </p:sp>
      <p:sp>
        <p:nvSpPr>
          <p:cNvPr id="3" name="Text 1">
            <a:hlinkClick r:id="rId2" tooltip="" action="ppaction://hlinksldjump"/>
          </p:cNvPr>
          <p:cNvSpPr txBox="1"/>
          <p:nvPr/>
        </p:nvSpPr>
        <p:spPr>
          <a:xfrm>
            <a:off x="10134295" y="38404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◂ ÍNDICE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554480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0E9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3 — AS SOLUÇÕES DO ECOSSISTEMA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20240"/>
            <a:ext cx="9144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13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Sete empresas.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13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única estratégia.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solução responde às mesmas quatro perguntas: quem é, qual problema resolve,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entrega e como contribui para o resultado do ecossistema.</a:t>
            </a:r>
            <a:endParaRPr lang="en-US" sz="1350" dirty="0"/>
          </a:p>
        </p:txBody>
      </p:sp>
      <p:sp>
        <p:nvSpPr>
          <p:cNvPr id="7" name="Shape 5">
            <a:hlinkClick r:id="rId3" tooltip="" action="ppaction://hlinksldjump"/>
          </p:cNvPr>
          <p:cNvSpPr/>
          <p:nvPr/>
        </p:nvSpPr>
        <p:spPr>
          <a:xfrm>
            <a:off x="822960" y="4434840"/>
            <a:ext cx="1298448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2E6F2"/>
            </a:solidFill>
            <a:prstDash val="solid"/>
          </a:ln>
        </p:spPr>
      </p:sp>
      <p:sp>
        <p:nvSpPr>
          <p:cNvPr id="8" name="Text 6">
            <a:hlinkClick r:id="rId4" tooltip="" action="ppaction://hlinksldjump"/>
          </p:cNvPr>
          <p:cNvSpPr txBox="1"/>
          <p:nvPr/>
        </p:nvSpPr>
        <p:spPr>
          <a:xfrm>
            <a:off x="914400" y="4507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none" dirty="0">
                <a:solidFill>
                  <a:srgbClr val="17D4A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01</a:t>
            </a:r>
            <a:endParaRPr lang="en-US" sz="1000" dirty="0"/>
          </a:p>
        </p:txBody>
      </p:sp>
      <p:sp>
        <p:nvSpPr>
          <p:cNvPr id="9" name="Text 7">
            <a:hlinkClick r:id="rId5" tooltip="" action="ppaction://hlinksldjump"/>
          </p:cNvPr>
          <p:cNvSpPr txBox="1"/>
          <p:nvPr/>
        </p:nvSpPr>
        <p:spPr>
          <a:xfrm>
            <a:off x="896112" y="4764024"/>
            <a:ext cx="1152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u="none" dirty="0">
                <a:solidFill>
                  <a:srgbClr val="13182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FourLife</a:t>
            </a:r>
            <a:endParaRPr lang="en-US" sz="1000" dirty="0"/>
          </a:p>
        </p:txBody>
      </p:sp>
      <p:sp>
        <p:nvSpPr>
          <p:cNvPr id="10" name="Shape 8">
            <a:hlinkClick r:id="rId6" tooltip="" action="ppaction://hlinksldjump"/>
          </p:cNvPr>
          <p:cNvSpPr/>
          <p:nvPr/>
        </p:nvSpPr>
        <p:spPr>
          <a:xfrm>
            <a:off x="2304288" y="4434840"/>
            <a:ext cx="1298448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2E6F2"/>
            </a:solidFill>
            <a:prstDash val="solid"/>
          </a:ln>
        </p:spPr>
      </p:sp>
      <p:sp>
        <p:nvSpPr>
          <p:cNvPr id="11" name="Text 9">
            <a:hlinkClick r:id="rId7" tooltip="" action="ppaction://hlinksldjump"/>
          </p:cNvPr>
          <p:cNvSpPr txBox="1"/>
          <p:nvPr/>
        </p:nvSpPr>
        <p:spPr>
          <a:xfrm>
            <a:off x="2395728" y="4507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none" dirty="0">
                <a:solidFill>
                  <a:srgbClr val="17D4A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02</a:t>
            </a:r>
            <a:endParaRPr lang="en-US" sz="1000" dirty="0"/>
          </a:p>
        </p:txBody>
      </p:sp>
      <p:sp>
        <p:nvSpPr>
          <p:cNvPr id="12" name="Text 10">
            <a:hlinkClick r:id="rId8" tooltip="" action="ppaction://hlinksldjump"/>
          </p:cNvPr>
          <p:cNvSpPr txBox="1"/>
          <p:nvPr/>
        </p:nvSpPr>
        <p:spPr>
          <a:xfrm>
            <a:off x="2377440" y="4764024"/>
            <a:ext cx="1152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u="none" dirty="0">
                <a:solidFill>
                  <a:srgbClr val="13182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AVall.iÔ</a:t>
            </a:r>
            <a:endParaRPr lang="en-US" sz="1000" dirty="0"/>
          </a:p>
        </p:txBody>
      </p:sp>
      <p:sp>
        <p:nvSpPr>
          <p:cNvPr id="13" name="Shape 11">
            <a:hlinkClick r:id="rId9" tooltip="" action="ppaction://hlinksldjump"/>
          </p:cNvPr>
          <p:cNvSpPr/>
          <p:nvPr/>
        </p:nvSpPr>
        <p:spPr>
          <a:xfrm>
            <a:off x="3785616" y="4434840"/>
            <a:ext cx="1298448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2E6F2"/>
            </a:solidFill>
            <a:prstDash val="solid"/>
          </a:ln>
        </p:spPr>
      </p:sp>
      <p:sp>
        <p:nvSpPr>
          <p:cNvPr id="14" name="Text 12">
            <a:hlinkClick r:id="rId10" tooltip="" action="ppaction://hlinksldjump"/>
          </p:cNvPr>
          <p:cNvSpPr txBox="1"/>
          <p:nvPr/>
        </p:nvSpPr>
        <p:spPr>
          <a:xfrm>
            <a:off x="3877056" y="4507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none" dirty="0">
                <a:solidFill>
                  <a:srgbClr val="17D4A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03</a:t>
            </a:r>
            <a:endParaRPr lang="en-US" sz="1000" dirty="0"/>
          </a:p>
        </p:txBody>
      </p:sp>
      <p:sp>
        <p:nvSpPr>
          <p:cNvPr id="15" name="Text 13">
            <a:hlinkClick r:id="rId11" tooltip="" action="ppaction://hlinksldjump"/>
          </p:cNvPr>
          <p:cNvSpPr txBox="1"/>
          <p:nvPr/>
        </p:nvSpPr>
        <p:spPr>
          <a:xfrm>
            <a:off x="3858768" y="4764024"/>
            <a:ext cx="1152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u="none" dirty="0">
                <a:solidFill>
                  <a:srgbClr val="13182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SGG</a:t>
            </a:r>
            <a:endParaRPr lang="en-US" sz="1000" dirty="0"/>
          </a:p>
        </p:txBody>
      </p:sp>
      <p:sp>
        <p:nvSpPr>
          <p:cNvPr id="16" name="Shape 14">
            <a:hlinkClick r:id="rId12" tooltip="" action="ppaction://hlinksldjump"/>
          </p:cNvPr>
          <p:cNvSpPr/>
          <p:nvPr/>
        </p:nvSpPr>
        <p:spPr>
          <a:xfrm>
            <a:off x="5266944" y="4434840"/>
            <a:ext cx="1298448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2E6F2"/>
            </a:solidFill>
            <a:prstDash val="solid"/>
          </a:ln>
        </p:spPr>
      </p:sp>
      <p:sp>
        <p:nvSpPr>
          <p:cNvPr id="17" name="Text 15">
            <a:hlinkClick r:id="rId13" tooltip="" action="ppaction://hlinksldjump"/>
          </p:cNvPr>
          <p:cNvSpPr txBox="1"/>
          <p:nvPr/>
        </p:nvSpPr>
        <p:spPr>
          <a:xfrm>
            <a:off x="5358384" y="4507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none" dirty="0">
                <a:solidFill>
                  <a:srgbClr val="17D4A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04</a:t>
            </a:r>
            <a:endParaRPr lang="en-US" sz="1000" dirty="0"/>
          </a:p>
        </p:txBody>
      </p:sp>
      <p:sp>
        <p:nvSpPr>
          <p:cNvPr id="18" name="Text 16">
            <a:hlinkClick r:id="rId14" tooltip="" action="ppaction://hlinksldjump"/>
          </p:cNvPr>
          <p:cNvSpPr txBox="1"/>
          <p:nvPr/>
        </p:nvSpPr>
        <p:spPr>
          <a:xfrm>
            <a:off x="5340096" y="4764024"/>
            <a:ext cx="1152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u="none" dirty="0">
                <a:solidFill>
                  <a:srgbClr val="13182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Grupo LabDuo</a:t>
            </a:r>
            <a:endParaRPr lang="en-US" sz="1000" dirty="0"/>
          </a:p>
        </p:txBody>
      </p:sp>
      <p:sp>
        <p:nvSpPr>
          <p:cNvPr id="19" name="Shape 17">
            <a:hlinkClick r:id="rId15" tooltip="" action="ppaction://hlinksldjump"/>
          </p:cNvPr>
          <p:cNvSpPr/>
          <p:nvPr/>
        </p:nvSpPr>
        <p:spPr>
          <a:xfrm>
            <a:off x="6748272" y="4434840"/>
            <a:ext cx="1298448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2E6F2"/>
            </a:solidFill>
            <a:prstDash val="solid"/>
          </a:ln>
        </p:spPr>
      </p:sp>
      <p:sp>
        <p:nvSpPr>
          <p:cNvPr id="20" name="Text 18">
            <a:hlinkClick r:id="rId16" tooltip="" action="ppaction://hlinksldjump"/>
          </p:cNvPr>
          <p:cNvSpPr txBox="1"/>
          <p:nvPr/>
        </p:nvSpPr>
        <p:spPr>
          <a:xfrm>
            <a:off x="6839712" y="4507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none" dirty="0">
                <a:solidFill>
                  <a:srgbClr val="17D4A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05</a:t>
            </a:r>
            <a:endParaRPr lang="en-US" sz="1000" dirty="0"/>
          </a:p>
        </p:txBody>
      </p:sp>
      <p:sp>
        <p:nvSpPr>
          <p:cNvPr id="21" name="Text 19">
            <a:hlinkClick r:id="rId17" tooltip="" action="ppaction://hlinksldjump"/>
          </p:cNvPr>
          <p:cNvSpPr txBox="1"/>
          <p:nvPr/>
        </p:nvSpPr>
        <p:spPr>
          <a:xfrm>
            <a:off x="6821424" y="4764024"/>
            <a:ext cx="1152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u="none" dirty="0">
                <a:solidFill>
                  <a:srgbClr val="13182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ZapVida</a:t>
            </a:r>
            <a:endParaRPr lang="en-US" sz="1000" dirty="0"/>
          </a:p>
        </p:txBody>
      </p:sp>
      <p:sp>
        <p:nvSpPr>
          <p:cNvPr id="22" name="Shape 20">
            <a:hlinkClick r:id="rId18" tooltip="" action="ppaction://hlinksldjump"/>
          </p:cNvPr>
          <p:cNvSpPr/>
          <p:nvPr/>
        </p:nvSpPr>
        <p:spPr>
          <a:xfrm>
            <a:off x="8229600" y="4434840"/>
            <a:ext cx="1298448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2E6F2"/>
            </a:solidFill>
            <a:prstDash val="solid"/>
          </a:ln>
        </p:spPr>
      </p:sp>
      <p:sp>
        <p:nvSpPr>
          <p:cNvPr id="23" name="Text 21">
            <a:hlinkClick r:id="rId19" tooltip="" action="ppaction://hlinksldjump"/>
          </p:cNvPr>
          <p:cNvSpPr txBox="1"/>
          <p:nvPr/>
        </p:nvSpPr>
        <p:spPr>
          <a:xfrm>
            <a:off x="8321040" y="4507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none" dirty="0">
                <a:solidFill>
                  <a:srgbClr val="17D4A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06</a:t>
            </a:r>
            <a:endParaRPr lang="en-US" sz="1000" dirty="0"/>
          </a:p>
        </p:txBody>
      </p:sp>
      <p:sp>
        <p:nvSpPr>
          <p:cNvPr id="24" name="Text 22">
            <a:hlinkClick r:id="rId20" tooltip="" action="ppaction://hlinksldjump"/>
          </p:cNvPr>
          <p:cNvSpPr txBox="1"/>
          <p:nvPr/>
        </p:nvSpPr>
        <p:spPr>
          <a:xfrm>
            <a:off x="8302752" y="4764024"/>
            <a:ext cx="1152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u="none" dirty="0">
                <a:solidFill>
                  <a:srgbClr val="13182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Uninovia</a:t>
            </a:r>
            <a:endParaRPr lang="en-US" sz="1000" dirty="0"/>
          </a:p>
        </p:txBody>
      </p:sp>
      <p:sp>
        <p:nvSpPr>
          <p:cNvPr id="25" name="Shape 23">
            <a:hlinkClick r:id="rId21" tooltip="" action="ppaction://hlinksldjump"/>
          </p:cNvPr>
          <p:cNvSpPr/>
          <p:nvPr/>
        </p:nvSpPr>
        <p:spPr>
          <a:xfrm>
            <a:off x="9710928" y="4434840"/>
            <a:ext cx="1298448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2E6F2"/>
            </a:solidFill>
            <a:prstDash val="solid"/>
          </a:ln>
        </p:spPr>
      </p:sp>
      <p:sp>
        <p:nvSpPr>
          <p:cNvPr id="26" name="Text 24">
            <a:hlinkClick r:id="rId22" tooltip="" action="ppaction://hlinksldjump"/>
          </p:cNvPr>
          <p:cNvSpPr txBox="1"/>
          <p:nvPr/>
        </p:nvSpPr>
        <p:spPr>
          <a:xfrm>
            <a:off x="9802368" y="4507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none" dirty="0">
                <a:solidFill>
                  <a:srgbClr val="17D4A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07</a:t>
            </a:r>
            <a:endParaRPr lang="en-US" sz="1000" dirty="0"/>
          </a:p>
        </p:txBody>
      </p:sp>
      <p:sp>
        <p:nvSpPr>
          <p:cNvPr id="27" name="Text 25">
            <a:hlinkClick r:id="rId23" tooltip="" action="ppaction://hlinksldjump"/>
          </p:cNvPr>
          <p:cNvSpPr txBox="1"/>
          <p:nvPr/>
        </p:nvSpPr>
        <p:spPr>
          <a:xfrm>
            <a:off x="9784080" y="4764024"/>
            <a:ext cx="1152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u="none" dirty="0">
                <a:solidFill>
                  <a:srgbClr val="13182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Agência Orion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471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ECOSSISTEMA INTEGRADO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11002975" y="65471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hlinkClick r:id="rId1" tooltip="" action="ppaction://hlinksldjump"/>
          </p:cNvPr>
          <p:cNvSpPr/>
          <p:nvPr/>
        </p:nvSpPr>
        <p:spPr>
          <a:xfrm>
            <a:off x="10134295" y="384048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F1B3C">
              <a:alpha val="8000"/>
            </a:srgbClr>
          </a:solidFill>
          <a:ln w="9525">
            <a:solidFill>
              <a:srgbClr val="5B6690"/>
            </a:solidFill>
            <a:prstDash val="solid"/>
          </a:ln>
        </p:spPr>
      </p:sp>
      <p:sp>
        <p:nvSpPr>
          <p:cNvPr id="3" name="Text 1">
            <a:hlinkClick r:id="rId2" tooltip="" action="ppaction://hlinksldjump"/>
          </p:cNvPr>
          <p:cNvSpPr txBox="1"/>
          <p:nvPr/>
        </p:nvSpPr>
        <p:spPr>
          <a:xfrm>
            <a:off x="10134295" y="38404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◂ MAPA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502920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2F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1/7 — GESTORA DO ECOSSISTEMA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8961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</a:t>
            </a:r>
            <a:pPr indent="0" marL="0">
              <a:buNone/>
            </a:pPr>
            <a:r>
              <a:rPr lang="en-US" sz="3000" b="1" dirty="0">
                <a:solidFill>
                  <a:srgbClr val="8DC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6596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900" b="1" dirty="0">
                <a:solidFill>
                  <a:srgbClr val="13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inteligência estratégica que integra e comanda o primeiro ecossistema unificado de produtividade e saúde corporativa.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3291840"/>
            <a:ext cx="621792" cy="621792"/>
          </a:xfrm>
          <a:prstGeom prst="ellipse">
            <a:avLst/>
          </a:prstGeom>
          <a:solidFill>
            <a:srgbClr val="2FB9C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190" y="3441070"/>
            <a:ext cx="323332" cy="32333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22960" y="4023360"/>
            <a:ext cx="321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3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Analytics preditivo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407408"/>
            <a:ext cx="3215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Antecipa riscos e oportunidades a partir de dados reais da operação.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495800" y="3291840"/>
            <a:ext cx="621792" cy="621792"/>
          </a:xfrm>
          <a:prstGeom prst="ellipse">
            <a:avLst/>
          </a:prstGeom>
          <a:solidFill>
            <a:srgbClr val="2FB9C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030" y="3441070"/>
            <a:ext cx="323332" cy="32333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495800" y="4023360"/>
            <a:ext cx="321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3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integrada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4495800" y="4407408"/>
            <a:ext cx="3215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todas as soluções do ecossistema em uma única estratégia.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168640" y="3291840"/>
            <a:ext cx="621792" cy="621792"/>
          </a:xfrm>
          <a:prstGeom prst="ellipse">
            <a:avLst/>
          </a:prstGeom>
          <a:solidFill>
            <a:srgbClr val="2FB9C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7870" y="3441070"/>
            <a:ext cx="323332" cy="3233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168640" y="4023360"/>
            <a:ext cx="321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3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mensurável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8168640" y="4407408"/>
            <a:ext cx="3215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 custos burocráticos de SST em investimento com retorno claro.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22960" y="5650992"/>
            <a:ext cx="10561320" cy="603504"/>
          </a:xfrm>
          <a:prstGeom prst="roundRect">
            <a:avLst>
              <a:gd name="adj" fmla="val 12121"/>
            </a:avLst>
          </a:prstGeom>
          <a:solidFill>
            <a:srgbClr val="0F1B3C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704" y="5806440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08760" y="5650992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centro que orquestra dados, prevenção e resultado entre todas as demais soluções.</a:t>
            </a:r>
            <a:endParaRPr lang="en-US" sz="1150" dirty="0"/>
          </a:p>
        </p:txBody>
      </p:sp>
      <p:sp>
        <p:nvSpPr>
          <p:cNvPr id="22" name="Text 16"/>
          <p:cNvSpPr txBox="1"/>
          <p:nvPr/>
        </p:nvSpPr>
        <p:spPr>
          <a:xfrm>
            <a:off x="457200" y="65471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ECOSSISTEMA INTEGRADO</a:t>
            </a:r>
            <a:endParaRPr lang="en-US" sz="800" dirty="0"/>
          </a:p>
        </p:txBody>
      </p:sp>
      <p:sp>
        <p:nvSpPr>
          <p:cNvPr id="23" name="Text 17"/>
          <p:cNvSpPr txBox="1"/>
          <p:nvPr/>
        </p:nvSpPr>
        <p:spPr>
          <a:xfrm>
            <a:off x="11002975" y="65471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hlinkClick r:id="rId1" tooltip="" action="ppaction://hlinksldjump"/>
          </p:cNvPr>
          <p:cNvSpPr/>
          <p:nvPr/>
        </p:nvSpPr>
        <p:spPr>
          <a:xfrm>
            <a:off x="10134295" y="384048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F1B3C">
              <a:alpha val="8000"/>
            </a:srgbClr>
          </a:solidFill>
          <a:ln w="9525">
            <a:solidFill>
              <a:srgbClr val="5B6690"/>
            </a:solidFill>
            <a:prstDash val="solid"/>
          </a:ln>
        </p:spPr>
      </p:sp>
      <p:sp>
        <p:nvSpPr>
          <p:cNvPr id="3" name="Text 1">
            <a:hlinkClick r:id="rId2" tooltip="" action="ppaction://hlinksldjump"/>
          </p:cNvPr>
          <p:cNvSpPr txBox="1"/>
          <p:nvPr/>
        </p:nvSpPr>
        <p:spPr>
          <a:xfrm>
            <a:off x="10134295" y="38404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◂ MAPA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502920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2FB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2/7 — RISCOS PSICOSSOCIAIS &amp; CLIMA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896112"/>
            <a:ext cx="292608" cy="292608"/>
          </a:xfrm>
          <a:prstGeom prst="triangle">
            <a:avLst/>
          </a:prstGeom>
          <a:solidFill>
            <a:srgbClr val="2FB84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58952" y="11704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FB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Avall.iÔ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96596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900" b="1" dirty="0">
                <a:solidFill>
                  <a:srgbClr val="13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Plataforma especializada em gestão de riscos psicossociais, clima organizacional e inteligência em segurança do trabalho — by Esphera Academy.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3291840"/>
            <a:ext cx="621792" cy="621792"/>
          </a:xfrm>
          <a:prstGeom prst="ellipse">
            <a:avLst/>
          </a:prstGeom>
          <a:solidFill>
            <a:srgbClr val="2FB84E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190" y="3441070"/>
            <a:ext cx="323332" cy="32333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22960" y="4023360"/>
            <a:ext cx="321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3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Mapeamento de riscos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407408"/>
            <a:ext cx="3215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riscos mentais e emocionais antes que se tornem crises.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495800" y="3291840"/>
            <a:ext cx="621792" cy="621792"/>
          </a:xfrm>
          <a:prstGeom prst="ellipse">
            <a:avLst/>
          </a:prstGeom>
          <a:solidFill>
            <a:srgbClr val="2FB84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030" y="3441070"/>
            <a:ext cx="323332" cy="32333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95800" y="4023360"/>
            <a:ext cx="321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3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 organizacional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4495800" y="4407408"/>
            <a:ext cx="3215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 treinamentos e dados de convivência em indicadores preventivos.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168640" y="3291840"/>
            <a:ext cx="621792" cy="621792"/>
          </a:xfrm>
          <a:prstGeom prst="ellipse">
            <a:avLst/>
          </a:prstGeom>
          <a:solidFill>
            <a:srgbClr val="2FB84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7870" y="3441070"/>
            <a:ext cx="323332" cy="32333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168640" y="4023360"/>
            <a:ext cx="321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3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Prevenção antecipada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8168640" y="4407408"/>
            <a:ext cx="3215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conflitos, burnout e adoecimentos no ambiente de trabalho.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822960" y="5650992"/>
            <a:ext cx="10561320" cy="603504"/>
          </a:xfrm>
          <a:prstGeom prst="roundRect">
            <a:avLst>
              <a:gd name="adj" fmla="val 12121"/>
            </a:avLst>
          </a:prstGeom>
          <a:solidFill>
            <a:srgbClr val="0F1B3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704" y="5806440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08760" y="5650992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 a FourLife com inteligência emocional para decisões preventivas.</a:t>
            </a:r>
            <a:endParaRPr lang="en-US" sz="115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65471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ECOSSISTEMA INTEGRADO</a:t>
            </a:r>
            <a:endParaRPr lang="en-US" sz="800" dirty="0"/>
          </a:p>
        </p:txBody>
      </p:sp>
      <p:sp>
        <p:nvSpPr>
          <p:cNvPr id="24" name="Text 18"/>
          <p:cNvSpPr txBox="1"/>
          <p:nvPr/>
        </p:nvSpPr>
        <p:spPr>
          <a:xfrm>
            <a:off x="11002975" y="65471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hlinkClick r:id="rId1" tooltip="" action="ppaction://hlinksldjump"/>
          </p:cNvPr>
          <p:cNvSpPr/>
          <p:nvPr/>
        </p:nvSpPr>
        <p:spPr>
          <a:xfrm>
            <a:off x="10134295" y="384048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F1B3C">
              <a:alpha val="8000"/>
            </a:srgbClr>
          </a:solidFill>
          <a:ln w="9525">
            <a:solidFill>
              <a:srgbClr val="5B6690"/>
            </a:solidFill>
            <a:prstDash val="solid"/>
          </a:ln>
        </p:spPr>
      </p:sp>
      <p:sp>
        <p:nvSpPr>
          <p:cNvPr id="3" name="Text 1">
            <a:hlinkClick r:id="rId2" tooltip="" action="ppaction://hlinksldjump"/>
          </p:cNvPr>
          <p:cNvSpPr txBox="1"/>
          <p:nvPr/>
        </p:nvSpPr>
        <p:spPr>
          <a:xfrm>
            <a:off x="10134295" y="38404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◂ MAPA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502920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0E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3/7 — MEDICINA &amp; SEGURANÇA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89611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pPr indent="0" marL="0">
              <a:buNone/>
            </a:pPr>
            <a:r>
              <a:rPr lang="en-US" sz="3000" b="1" dirty="0">
                <a:solidFill>
                  <a:srgbClr val="0E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indent="0" marL="0">
              <a:buNone/>
            </a:pPr>
            <a:r>
              <a:rPr lang="en-US" sz="3000" b="1" dirty="0">
                <a:solidFill>
                  <a:srgbClr val="12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13533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SST &amp; ESOCIAL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96596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900" b="1" dirty="0">
                <a:solidFill>
                  <a:srgbClr val="13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Plataforma tecnológica integrada para gestão de Medicina e Engenharia de Segurança do Trabalho.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3291840"/>
            <a:ext cx="621792" cy="621792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190" y="3441070"/>
            <a:ext cx="323332" cy="32333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22960" y="4023360"/>
            <a:ext cx="321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3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PGR, PCMSO e laudos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407408"/>
            <a:ext cx="3215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e controle total da documentação obrigatória de SST.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495800" y="3291840"/>
            <a:ext cx="621792" cy="621792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030" y="3441070"/>
            <a:ext cx="323332" cy="32333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95800" y="4023360"/>
            <a:ext cx="321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3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Emissão de ASOs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4495800" y="4407408"/>
            <a:ext cx="3215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Atestados de saúde ocupacional emitidos com agilidade e precisão.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168640" y="3291840"/>
            <a:ext cx="621792" cy="621792"/>
          </a:xfrm>
          <a:prstGeom prst="ellipse">
            <a:avLst/>
          </a:prstGeom>
          <a:solidFill>
            <a:srgbClr val="0E6E7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7870" y="3441070"/>
            <a:ext cx="323332" cy="32333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168640" y="4023360"/>
            <a:ext cx="321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3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eSocial simplificado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8168640" y="4407408"/>
            <a:ext cx="3215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Envio de eventos de SST com total compliance regulatório.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822960" y="5650992"/>
            <a:ext cx="10561320" cy="603504"/>
          </a:xfrm>
          <a:prstGeom prst="roundRect">
            <a:avLst>
              <a:gd name="adj" fmla="val 12121"/>
            </a:avLst>
          </a:prstGeom>
          <a:solidFill>
            <a:srgbClr val="0F1B3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704" y="5806440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08760" y="5650992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Garante a base de compliance que sustenta todo o ecossistema.</a:t>
            </a:r>
            <a:endParaRPr lang="en-US" sz="115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65471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ECOSSISTEMA INTEGRADO</a:t>
            </a:r>
            <a:endParaRPr lang="en-US" sz="800" dirty="0"/>
          </a:p>
        </p:txBody>
      </p:sp>
      <p:sp>
        <p:nvSpPr>
          <p:cNvPr id="24" name="Text 18"/>
          <p:cNvSpPr txBox="1"/>
          <p:nvPr/>
        </p:nvSpPr>
        <p:spPr>
          <a:xfrm>
            <a:off x="11002975" y="65471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hlinkClick r:id="rId1" tooltip="" action="ppaction://hlinksldjump"/>
          </p:cNvPr>
          <p:cNvSpPr/>
          <p:nvPr/>
        </p:nvSpPr>
        <p:spPr>
          <a:xfrm>
            <a:off x="10134295" y="384048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F1B3C">
              <a:alpha val="8000"/>
            </a:srgbClr>
          </a:solidFill>
          <a:ln w="9525">
            <a:solidFill>
              <a:srgbClr val="5B6690"/>
            </a:solidFill>
            <a:prstDash val="solid"/>
          </a:ln>
        </p:spPr>
      </p:sp>
      <p:sp>
        <p:nvSpPr>
          <p:cNvPr id="3" name="Text 1">
            <a:hlinkClick r:id="rId2" tooltip="" action="ppaction://hlinksldjump"/>
          </p:cNvPr>
          <p:cNvSpPr txBox="1"/>
          <p:nvPr/>
        </p:nvSpPr>
        <p:spPr>
          <a:xfrm>
            <a:off x="10134295" y="38404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◂ MAPA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502920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1C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4/7 — MEDICINA DIAGNÓSTICA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04672" y="1170432"/>
            <a:ext cx="82296" cy="82296"/>
          </a:xfrm>
          <a:prstGeom prst="ellipse">
            <a:avLst/>
          </a:prstGeom>
          <a:solidFill>
            <a:srgbClr val="1CA6A6"/>
          </a:solidFill>
          <a:ln/>
        </p:spPr>
      </p:sp>
      <p:sp>
        <p:nvSpPr>
          <p:cNvPr id="6" name="Shape 4"/>
          <p:cNvSpPr/>
          <p:nvPr/>
        </p:nvSpPr>
        <p:spPr>
          <a:xfrm>
            <a:off x="905256" y="1069848"/>
            <a:ext cx="82296" cy="82296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969264"/>
            <a:ext cx="82296" cy="82296"/>
          </a:xfrm>
          <a:prstGeom prst="ellipse">
            <a:avLst/>
          </a:prstGeom>
          <a:solidFill>
            <a:srgbClr val="1CA6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52144" y="8961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pPr indent="0" marL="0">
              <a:buNone/>
            </a:pPr>
            <a:r>
              <a:rPr lang="en-US" sz="26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152144" y="131673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 Diagnóstica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196596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900" b="1" dirty="0">
                <a:solidFill>
                  <a:srgbClr val="13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braço de medicina ocupacional, exames e diagnósticos do ecossistema — Grupo LabDuo.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22960" y="3291840"/>
            <a:ext cx="621792" cy="621792"/>
          </a:xfrm>
          <a:prstGeom prst="ellipse">
            <a:avLst/>
          </a:prstGeom>
          <a:solidFill>
            <a:srgbClr val="1CA6A6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190" y="3441070"/>
            <a:ext cx="323332" cy="323332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822960" y="4023360"/>
            <a:ext cx="321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3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Exames laboratoriais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407408"/>
            <a:ext cx="3215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 técnico em exames laboratoriais e complementares.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495800" y="3291840"/>
            <a:ext cx="621792" cy="621792"/>
          </a:xfrm>
          <a:prstGeom prst="ellipse">
            <a:avLst/>
          </a:prstGeom>
          <a:solidFill>
            <a:srgbClr val="1CA6A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030" y="3441070"/>
            <a:ext cx="323332" cy="32333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495800" y="4023360"/>
            <a:ext cx="321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3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 ágil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4495800" y="4407408"/>
            <a:ext cx="3215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presencial rápida para o colaborador.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8168640" y="3291840"/>
            <a:ext cx="621792" cy="621792"/>
          </a:xfrm>
          <a:prstGeom prst="ellipse">
            <a:avLst/>
          </a:prstGeom>
          <a:solidFill>
            <a:srgbClr val="1CA6A6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7870" y="3441070"/>
            <a:ext cx="323332" cy="32333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168640" y="4023360"/>
            <a:ext cx="321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3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preventivo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8168640" y="4407408"/>
            <a:ext cx="3215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médico preventivo para a saúde física da equipe.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822960" y="5650992"/>
            <a:ext cx="10561320" cy="603504"/>
          </a:xfrm>
          <a:prstGeom prst="roundRect">
            <a:avLst>
              <a:gd name="adj" fmla="val 12121"/>
            </a:avLst>
          </a:prstGeom>
          <a:solidFill>
            <a:srgbClr val="0F1B3C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704" y="5806440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508760" y="5650992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 os dados clínicos que alimentam a prevenção do ecossistema.</a:t>
            </a:r>
            <a:endParaRPr lang="en-US" sz="1150" dirty="0"/>
          </a:p>
        </p:txBody>
      </p:sp>
      <p:sp>
        <p:nvSpPr>
          <p:cNvPr id="26" name="Text 20"/>
          <p:cNvSpPr txBox="1"/>
          <p:nvPr/>
        </p:nvSpPr>
        <p:spPr>
          <a:xfrm>
            <a:off x="457200" y="65471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ECOSSISTEMA INTEGRADO</a:t>
            </a:r>
            <a:endParaRPr lang="en-US" sz="800" dirty="0"/>
          </a:p>
        </p:txBody>
      </p:sp>
      <p:sp>
        <p:nvSpPr>
          <p:cNvPr id="27" name="Text 21"/>
          <p:cNvSpPr txBox="1"/>
          <p:nvPr/>
        </p:nvSpPr>
        <p:spPr>
          <a:xfrm>
            <a:off x="11002975" y="65471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hlinkClick r:id="rId1" tooltip="" action="ppaction://hlinksldjump"/>
          </p:cNvPr>
          <p:cNvSpPr/>
          <p:nvPr/>
        </p:nvSpPr>
        <p:spPr>
          <a:xfrm>
            <a:off x="10134295" y="384048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F1B3C">
              <a:alpha val="8000"/>
            </a:srgbClr>
          </a:solidFill>
          <a:ln w="9525">
            <a:solidFill>
              <a:srgbClr val="5B6690"/>
            </a:solidFill>
            <a:prstDash val="solid"/>
          </a:ln>
        </p:spPr>
      </p:sp>
      <p:sp>
        <p:nvSpPr>
          <p:cNvPr id="3" name="Text 1">
            <a:hlinkClick r:id="rId2" tooltip="" action="ppaction://hlinksldjump"/>
          </p:cNvPr>
          <p:cNvSpPr txBox="1"/>
          <p:nvPr/>
        </p:nvSpPr>
        <p:spPr>
          <a:xfrm>
            <a:off x="10134295" y="38404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◂ MAPA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502920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5B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5/7 — SAÚDE DIGITAL &amp; TELEMEDICINA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04672" y="914400"/>
            <a:ext cx="384048" cy="384048"/>
          </a:xfrm>
          <a:prstGeom prst="ellipse">
            <a:avLst/>
          </a:prstGeom>
          <a:ln w="28575">
            <a:solidFill>
              <a:srgbClr val="1B496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051560"/>
            <a:ext cx="45720" cy="45720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7" name="Shape 5"/>
          <p:cNvSpPr/>
          <p:nvPr/>
        </p:nvSpPr>
        <p:spPr>
          <a:xfrm>
            <a:off x="1033272" y="1051560"/>
            <a:ext cx="45720" cy="45720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98448" y="822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</a:t>
            </a:r>
            <a:pPr indent="0" marL="0">
              <a:buNone/>
            </a:pPr>
            <a:r>
              <a:rPr lang="en-US" sz="2600" b="1" dirty="0">
                <a:solidFill>
                  <a:srgbClr val="5B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Vida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2435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196596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900" b="1" dirty="0">
                <a:solidFill>
                  <a:srgbClr val="13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Plataforma de saúde digital e telemedicina preventiva de alta escala.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22960" y="3291840"/>
            <a:ext cx="621792" cy="621792"/>
          </a:xfrm>
          <a:prstGeom prst="ellipse">
            <a:avLst/>
          </a:prstGeom>
          <a:solidFill>
            <a:srgbClr val="5BC0E8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190" y="3441070"/>
            <a:ext cx="323332" cy="323332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822960" y="4023360"/>
            <a:ext cx="321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3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consulta por mês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407408"/>
            <a:ext cx="3215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Clínico geral ou psicologia, por colaborador, sem coparticipação.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495800" y="3291840"/>
            <a:ext cx="621792" cy="621792"/>
          </a:xfrm>
          <a:prstGeom prst="ellipse">
            <a:avLst/>
          </a:prstGeom>
          <a:solidFill>
            <a:srgbClr val="5BC0E8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030" y="3441070"/>
            <a:ext cx="323332" cy="32333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495800" y="4023360"/>
            <a:ext cx="321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3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especialidades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4495800" y="4407408"/>
            <a:ext cx="3215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Nutrição e mais 15 especialidades médicas à distância.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8168640" y="3291840"/>
            <a:ext cx="621792" cy="621792"/>
          </a:xfrm>
          <a:prstGeom prst="ellipse">
            <a:avLst/>
          </a:prstGeom>
          <a:solidFill>
            <a:srgbClr val="5BC0E8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7870" y="3441070"/>
            <a:ext cx="323332" cy="32333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168640" y="4023360"/>
            <a:ext cx="321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3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 contínuo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8168640" y="4407408"/>
            <a:ext cx="3215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permanente à saúde, onde e quando o time precisar.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822960" y="5650992"/>
            <a:ext cx="10561320" cy="603504"/>
          </a:xfrm>
          <a:prstGeom prst="roundRect">
            <a:avLst>
              <a:gd name="adj" fmla="val 12121"/>
            </a:avLst>
          </a:prstGeom>
          <a:solidFill>
            <a:srgbClr val="0F1B3C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704" y="5806440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508760" y="5650992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 o cuidado do ecossistema até o colaborador, em escala.</a:t>
            </a:r>
            <a:endParaRPr lang="en-US" sz="1150" dirty="0"/>
          </a:p>
        </p:txBody>
      </p:sp>
      <p:sp>
        <p:nvSpPr>
          <p:cNvPr id="26" name="Text 20"/>
          <p:cNvSpPr txBox="1"/>
          <p:nvPr/>
        </p:nvSpPr>
        <p:spPr>
          <a:xfrm>
            <a:off x="457200" y="65471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ECOSSISTEMA INTEGRADO</a:t>
            </a:r>
            <a:endParaRPr lang="en-US" sz="800" dirty="0"/>
          </a:p>
        </p:txBody>
      </p:sp>
      <p:sp>
        <p:nvSpPr>
          <p:cNvPr id="27" name="Text 21"/>
          <p:cNvSpPr txBox="1"/>
          <p:nvPr/>
        </p:nvSpPr>
        <p:spPr>
          <a:xfrm>
            <a:off x="11002975" y="65471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hlinkClick r:id="rId1" tooltip="" action="ppaction://hlinksldjump"/>
          </p:cNvPr>
          <p:cNvSpPr/>
          <p:nvPr/>
        </p:nvSpPr>
        <p:spPr>
          <a:xfrm>
            <a:off x="10134295" y="384048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F1B3C">
              <a:alpha val="8000"/>
            </a:srgbClr>
          </a:solidFill>
          <a:ln w="9525">
            <a:solidFill>
              <a:srgbClr val="5B6690"/>
            </a:solidFill>
            <a:prstDash val="solid"/>
          </a:ln>
        </p:spPr>
      </p:sp>
      <p:sp>
        <p:nvSpPr>
          <p:cNvPr id="3" name="Text 1">
            <a:hlinkClick r:id="rId2" tooltip="" action="ppaction://hlinksldjump"/>
          </p:cNvPr>
          <p:cNvSpPr txBox="1"/>
          <p:nvPr/>
        </p:nvSpPr>
        <p:spPr>
          <a:xfrm>
            <a:off x="10134295" y="38404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◂ MAPA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502920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8B3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6/7 — EDUCAÇÃO CORPORATIVA &amp; CARREIRA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8961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3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unino</a:t>
            </a:r>
            <a:pPr indent="0" marL="0">
              <a:buNone/>
            </a:pPr>
            <a:r>
              <a:rPr lang="en-US" sz="2600" b="1" dirty="0">
                <a:solidFill>
                  <a:srgbClr val="3FC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131673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learning experience.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96596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900" b="1" dirty="0">
                <a:solidFill>
                  <a:srgbClr val="13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vertente de educação corporativa, desenvolvimento de carreira e inclusão social do ecossistema.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3291840"/>
            <a:ext cx="621792" cy="621792"/>
          </a:xfrm>
          <a:prstGeom prst="ellipse">
            <a:avLst/>
          </a:prstGeom>
          <a:solidFill>
            <a:srgbClr val="8B3FD1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190" y="3441070"/>
            <a:ext cx="323332" cy="32333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22960" y="4023360"/>
            <a:ext cx="321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3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Microlearning em saúde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407408"/>
            <a:ext cx="3215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contínuo e aplicado ao dia a dia do colaborador.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495800" y="3291840"/>
            <a:ext cx="621792" cy="621792"/>
          </a:xfrm>
          <a:prstGeom prst="ellipse">
            <a:avLst/>
          </a:prstGeom>
          <a:solidFill>
            <a:srgbClr val="8B3FD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030" y="3441070"/>
            <a:ext cx="323332" cy="32333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95800" y="4023360"/>
            <a:ext cx="321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3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Upskilling e Reskilling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4495800" y="4407408"/>
            <a:ext cx="3215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EJA, Técnico e Ensino Superior em Administração.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168640" y="3291840"/>
            <a:ext cx="621792" cy="621792"/>
          </a:xfrm>
          <a:prstGeom prst="ellipse">
            <a:avLst/>
          </a:prstGeom>
          <a:solidFill>
            <a:srgbClr val="8B3FD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7870" y="3441070"/>
            <a:ext cx="323332" cy="32333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168640" y="4023360"/>
            <a:ext cx="321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3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Cashback Social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8168640" y="4407408"/>
            <a:ext cx="3215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 a formação e cria consciência empreendedora.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822960" y="5650992"/>
            <a:ext cx="10561320" cy="603504"/>
          </a:xfrm>
          <a:prstGeom prst="roundRect">
            <a:avLst>
              <a:gd name="adj" fmla="val 12121"/>
            </a:avLst>
          </a:prstGeom>
          <a:solidFill>
            <a:srgbClr val="0F1B3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704" y="5806440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08760" y="5650992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 a prevenção do ecossistema em desenvolvimento e retenção de talentos.</a:t>
            </a:r>
            <a:endParaRPr lang="en-US" sz="115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65471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ECOSSISTEMA INTEGRADO</a:t>
            </a:r>
            <a:endParaRPr lang="en-US" sz="800" dirty="0"/>
          </a:p>
        </p:txBody>
      </p:sp>
      <p:sp>
        <p:nvSpPr>
          <p:cNvPr id="24" name="Text 18"/>
          <p:cNvSpPr txBox="1"/>
          <p:nvPr/>
        </p:nvSpPr>
        <p:spPr>
          <a:xfrm>
            <a:off x="11002975" y="65471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hlinkClick r:id="rId1" tooltip="" action="ppaction://hlinksldjump"/>
          </p:cNvPr>
          <p:cNvSpPr/>
          <p:nvPr/>
        </p:nvSpPr>
        <p:spPr>
          <a:xfrm>
            <a:off x="10134295" y="384048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F1B3C">
              <a:alpha val="8000"/>
            </a:srgbClr>
          </a:solidFill>
          <a:ln w="9525">
            <a:solidFill>
              <a:srgbClr val="5B6690"/>
            </a:solidFill>
            <a:prstDash val="solid"/>
          </a:ln>
        </p:spPr>
      </p:sp>
      <p:sp>
        <p:nvSpPr>
          <p:cNvPr id="3" name="Text 1">
            <a:hlinkClick r:id="rId2" tooltip="" action="ppaction://hlinksldjump"/>
          </p:cNvPr>
          <p:cNvSpPr txBox="1"/>
          <p:nvPr/>
        </p:nvSpPr>
        <p:spPr>
          <a:xfrm>
            <a:off x="10134295" y="38404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◂ MAPA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502920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15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7/7 — ESTRATÉGIA &amp; INTELIGÊNCIA COMERCIAL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04672" y="1280160"/>
            <a:ext cx="50292" cy="50292"/>
          </a:xfrm>
          <a:prstGeom prst="ellipse">
            <a:avLst/>
          </a:prstGeom>
          <a:solidFill>
            <a:srgbClr val="15181F"/>
          </a:solidFill>
          <a:ln/>
        </p:spPr>
      </p:sp>
      <p:sp>
        <p:nvSpPr>
          <p:cNvPr id="6" name="Shape 4"/>
          <p:cNvSpPr/>
          <p:nvPr/>
        </p:nvSpPr>
        <p:spPr>
          <a:xfrm>
            <a:off x="864108" y="1170432"/>
            <a:ext cx="50292" cy="50292"/>
          </a:xfrm>
          <a:prstGeom prst="ellipse">
            <a:avLst/>
          </a:prstGeom>
          <a:solidFill>
            <a:srgbClr val="15181F"/>
          </a:solidFill>
          <a:ln/>
        </p:spPr>
      </p:sp>
      <p:sp>
        <p:nvSpPr>
          <p:cNvPr id="7" name="Shape 5"/>
          <p:cNvSpPr/>
          <p:nvPr/>
        </p:nvSpPr>
        <p:spPr>
          <a:xfrm>
            <a:off x="923544" y="1060704"/>
            <a:ext cx="50292" cy="50292"/>
          </a:xfrm>
          <a:prstGeom prst="ellipse">
            <a:avLst/>
          </a:prstGeom>
          <a:solidFill>
            <a:srgbClr val="15181F"/>
          </a:solidFill>
          <a:ln/>
        </p:spPr>
      </p:sp>
      <p:sp>
        <p:nvSpPr>
          <p:cNvPr id="8" name="Shape 6"/>
          <p:cNvSpPr/>
          <p:nvPr/>
        </p:nvSpPr>
        <p:spPr>
          <a:xfrm rot="2700000">
            <a:off x="932688" y="877824"/>
            <a:ext cx="137160" cy="137160"/>
          </a:xfrm>
          <a:prstGeom prst="triangle">
            <a:avLst/>
          </a:prstGeom>
          <a:solidFill>
            <a:srgbClr val="15181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88720" y="78638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15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ORION</a:t>
            </a:r>
            <a:endParaRPr lang="en-US" sz="1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15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1463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Soluções integradas para marcas que querem liderar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196596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900" b="1" dirty="0">
                <a:solidFill>
                  <a:srgbClr val="13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agência parceira de estratégia, posicionamento de marca e inteligência comercial do ecossistema.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22960" y="3291840"/>
            <a:ext cx="621792" cy="621792"/>
          </a:xfrm>
          <a:prstGeom prst="ellipse">
            <a:avLst/>
          </a:prstGeom>
          <a:solidFill>
            <a:srgbClr val="15181F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190" y="3441070"/>
            <a:ext cx="323332" cy="323332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22960" y="4023360"/>
            <a:ext cx="321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3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institucional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4407408"/>
            <a:ext cx="3215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 assertiva para o mercado e para o cliente final.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495800" y="3291840"/>
            <a:ext cx="621792" cy="621792"/>
          </a:xfrm>
          <a:prstGeom prst="ellipse">
            <a:avLst/>
          </a:prstGeom>
          <a:solidFill>
            <a:srgbClr val="15181F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030" y="3441070"/>
            <a:ext cx="323332" cy="32333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4495800" y="4023360"/>
            <a:ext cx="321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3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Aquisição B2B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4495800" y="4407408"/>
            <a:ext cx="3215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Estratégias de vendas e crescimento comercial.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8168640" y="3291840"/>
            <a:ext cx="621792" cy="621792"/>
          </a:xfrm>
          <a:prstGeom prst="ellipse">
            <a:avLst/>
          </a:prstGeom>
          <a:solidFill>
            <a:srgbClr val="15181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7870" y="3441070"/>
            <a:ext cx="323332" cy="32333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168640" y="4023360"/>
            <a:ext cx="321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3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e engajamento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8168640" y="4407408"/>
            <a:ext cx="3215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de CRM e materiais que potencializam resultados.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822960" y="5650992"/>
            <a:ext cx="10561320" cy="603504"/>
          </a:xfrm>
          <a:prstGeom prst="roundRect">
            <a:avLst>
              <a:gd name="adj" fmla="val 12121"/>
            </a:avLst>
          </a:prstGeom>
          <a:solidFill>
            <a:srgbClr val="0F1B3C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704" y="5806440"/>
            <a:ext cx="292608" cy="292608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508760" y="5650992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 o valor do ecossistema ao mercado, com posicionamento e vendas.</a:t>
            </a:r>
            <a:endParaRPr lang="en-US" sz="1150" dirty="0"/>
          </a:p>
        </p:txBody>
      </p:sp>
      <p:sp>
        <p:nvSpPr>
          <p:cNvPr id="27" name="Text 21"/>
          <p:cNvSpPr txBox="1"/>
          <p:nvPr/>
        </p:nvSpPr>
        <p:spPr>
          <a:xfrm>
            <a:off x="457200" y="65471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ECOSSISTEMA INTEGRADO</a:t>
            </a:r>
            <a:endParaRPr lang="en-US" sz="800" dirty="0"/>
          </a:p>
        </p:txBody>
      </p:sp>
      <p:sp>
        <p:nvSpPr>
          <p:cNvPr id="28" name="Text 22"/>
          <p:cNvSpPr txBox="1"/>
          <p:nvPr/>
        </p:nvSpPr>
        <p:spPr>
          <a:xfrm>
            <a:off x="11002975" y="65471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hlinkClick r:id="rId1" tooltip="" action="ppaction://hlinksldjump"/>
          </p:cNvPr>
          <p:cNvSpPr/>
          <p:nvPr/>
        </p:nvSpPr>
        <p:spPr>
          <a:xfrm>
            <a:off x="10134295" y="384048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8B96C4"/>
            </a:solidFill>
            <a:prstDash val="solid"/>
          </a:ln>
        </p:spPr>
      </p:sp>
      <p:sp>
        <p:nvSpPr>
          <p:cNvPr id="3" name="Text 1">
            <a:hlinkClick r:id="rId2" tooltip="" action="ppaction://hlinksldjump"/>
          </p:cNvPr>
          <p:cNvSpPr txBox="1"/>
          <p:nvPr/>
        </p:nvSpPr>
        <p:spPr>
          <a:xfrm>
            <a:off x="10134295" y="38404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◂ ÍNDICE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58368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17D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4 — O PODER DA INTEGRAÇÃO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0515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única jornada, do dado ao resultado.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600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solução do ecossistema atua em um elo desta corrente — e nenhum elo funciona sozinho.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73252" y="3419856"/>
            <a:ext cx="566928" cy="566928"/>
          </a:xfrm>
          <a:prstGeom prst="ellipse">
            <a:avLst/>
          </a:prstGeom>
          <a:solidFill>
            <a:srgbClr val="182A5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561588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76072" y="4087368"/>
            <a:ext cx="1161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10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4208" y="3611880"/>
            <a:ext cx="182880" cy="1828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107692" y="3419856"/>
            <a:ext cx="566928" cy="566928"/>
          </a:xfrm>
          <a:prstGeom prst="ellipse">
            <a:avLst/>
          </a:prstGeom>
          <a:solidFill>
            <a:srgbClr val="182A56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9424" y="3561588"/>
            <a:ext cx="283464" cy="28346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810512" y="4087368"/>
            <a:ext cx="1161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0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98648" y="3611880"/>
            <a:ext cx="182880" cy="18288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3342132" y="3419856"/>
            <a:ext cx="566928" cy="566928"/>
          </a:xfrm>
          <a:prstGeom prst="ellipse">
            <a:avLst/>
          </a:prstGeom>
          <a:solidFill>
            <a:srgbClr val="182A56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3561588"/>
            <a:ext cx="283464" cy="28346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3044952" y="4087368"/>
            <a:ext cx="1161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Prevenção</a:t>
            </a:r>
            <a:endParaRPr lang="en-US" sz="10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33088" y="3611880"/>
            <a:ext cx="182880" cy="18288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4576572" y="3419856"/>
            <a:ext cx="566928" cy="566928"/>
          </a:xfrm>
          <a:prstGeom prst="ellipse">
            <a:avLst/>
          </a:prstGeom>
          <a:solidFill>
            <a:srgbClr val="182A56"/>
          </a:solidFill>
          <a:ln/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18304" y="3561588"/>
            <a:ext cx="283464" cy="283464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4279392" y="4087368"/>
            <a:ext cx="1161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</a:t>
            </a:r>
            <a:endParaRPr lang="en-US" sz="105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67528" y="3611880"/>
            <a:ext cx="182880" cy="182880"/>
          </a:xfrm>
          <a:prstGeom prst="rect">
            <a:avLst/>
          </a:prstGeom>
        </p:spPr>
      </p:pic>
      <p:sp>
        <p:nvSpPr>
          <p:cNvPr id="23" name="Shape 13"/>
          <p:cNvSpPr/>
          <p:nvPr/>
        </p:nvSpPr>
        <p:spPr>
          <a:xfrm>
            <a:off x="5811012" y="3419856"/>
            <a:ext cx="566928" cy="566928"/>
          </a:xfrm>
          <a:prstGeom prst="ellipse">
            <a:avLst/>
          </a:prstGeom>
          <a:solidFill>
            <a:srgbClr val="182A56"/>
          </a:solidFill>
          <a:ln/>
        </p:spPr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52744" y="3561588"/>
            <a:ext cx="283464" cy="283464"/>
          </a:xfrm>
          <a:prstGeom prst="rect">
            <a:avLst/>
          </a:prstGeom>
        </p:spPr>
      </p:pic>
      <p:sp>
        <p:nvSpPr>
          <p:cNvPr id="25" name="Text 14"/>
          <p:cNvSpPr txBox="1"/>
          <p:nvPr/>
        </p:nvSpPr>
        <p:spPr>
          <a:xfrm>
            <a:off x="5513832" y="4087368"/>
            <a:ext cx="1161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105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01968" y="3611880"/>
            <a:ext cx="182880" cy="182880"/>
          </a:xfrm>
          <a:prstGeom prst="rect">
            <a:avLst/>
          </a:prstGeom>
        </p:spPr>
      </p:pic>
      <p:sp>
        <p:nvSpPr>
          <p:cNvPr id="27" name="Shape 15"/>
          <p:cNvSpPr/>
          <p:nvPr/>
        </p:nvSpPr>
        <p:spPr>
          <a:xfrm>
            <a:off x="7045452" y="3419856"/>
            <a:ext cx="566928" cy="566928"/>
          </a:xfrm>
          <a:prstGeom prst="ellipse">
            <a:avLst/>
          </a:prstGeom>
          <a:solidFill>
            <a:srgbClr val="182A56"/>
          </a:solidFill>
          <a:ln/>
        </p:spPr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87184" y="3561588"/>
            <a:ext cx="283464" cy="283464"/>
          </a:xfrm>
          <a:prstGeom prst="rect">
            <a:avLst/>
          </a:prstGeom>
        </p:spPr>
      </p:pic>
      <p:sp>
        <p:nvSpPr>
          <p:cNvPr id="29" name="Text 16"/>
          <p:cNvSpPr txBox="1"/>
          <p:nvPr/>
        </p:nvSpPr>
        <p:spPr>
          <a:xfrm>
            <a:off x="6748272" y="4087368"/>
            <a:ext cx="1161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Educação</a:t>
            </a:r>
            <a:endParaRPr lang="en-US" sz="1050" dirty="0"/>
          </a:p>
        </p:txBody>
      </p:sp>
      <p:pic>
        <p:nvPicPr>
          <p:cNvPr id="30" name="Image 11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36408" y="3611880"/>
            <a:ext cx="182880" cy="182880"/>
          </a:xfrm>
          <a:prstGeom prst="rect">
            <a:avLst/>
          </a:prstGeom>
        </p:spPr>
      </p:pic>
      <p:sp>
        <p:nvSpPr>
          <p:cNvPr id="31" name="Shape 17"/>
          <p:cNvSpPr/>
          <p:nvPr/>
        </p:nvSpPr>
        <p:spPr>
          <a:xfrm>
            <a:off x="8279892" y="3419856"/>
            <a:ext cx="566928" cy="566928"/>
          </a:xfrm>
          <a:prstGeom prst="ellipse">
            <a:avLst/>
          </a:prstGeom>
          <a:solidFill>
            <a:srgbClr val="182A56"/>
          </a:solidFill>
          <a:ln/>
        </p:spPr>
      </p:sp>
      <p:pic>
        <p:nvPicPr>
          <p:cNvPr id="32" name="Image 12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21624" y="3561588"/>
            <a:ext cx="283464" cy="283464"/>
          </a:xfrm>
          <a:prstGeom prst="rect">
            <a:avLst/>
          </a:prstGeom>
        </p:spPr>
      </p:pic>
      <p:sp>
        <p:nvSpPr>
          <p:cNvPr id="33" name="Text 18"/>
          <p:cNvSpPr txBox="1"/>
          <p:nvPr/>
        </p:nvSpPr>
        <p:spPr>
          <a:xfrm>
            <a:off x="7982712" y="4087368"/>
            <a:ext cx="1161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Engajamento</a:t>
            </a:r>
            <a:endParaRPr lang="en-US" sz="1050" dirty="0"/>
          </a:p>
        </p:txBody>
      </p:sp>
      <p:pic>
        <p:nvPicPr>
          <p:cNvPr id="34" name="Image 13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70848" y="3611880"/>
            <a:ext cx="182880" cy="182880"/>
          </a:xfrm>
          <a:prstGeom prst="rect">
            <a:avLst/>
          </a:prstGeom>
        </p:spPr>
      </p:pic>
      <p:sp>
        <p:nvSpPr>
          <p:cNvPr id="35" name="Shape 19"/>
          <p:cNvSpPr/>
          <p:nvPr/>
        </p:nvSpPr>
        <p:spPr>
          <a:xfrm>
            <a:off x="9514332" y="3419856"/>
            <a:ext cx="566928" cy="566928"/>
          </a:xfrm>
          <a:prstGeom prst="ellipse">
            <a:avLst/>
          </a:prstGeom>
          <a:solidFill>
            <a:srgbClr val="182A56"/>
          </a:solidFill>
          <a:ln/>
        </p:spPr>
      </p:sp>
      <p:pic>
        <p:nvPicPr>
          <p:cNvPr id="36" name="Image 14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656064" y="3561588"/>
            <a:ext cx="283464" cy="283464"/>
          </a:xfrm>
          <a:prstGeom prst="rect">
            <a:avLst/>
          </a:prstGeom>
        </p:spPr>
      </p:pic>
      <p:sp>
        <p:nvSpPr>
          <p:cNvPr id="37" name="Text 20"/>
          <p:cNvSpPr txBox="1"/>
          <p:nvPr/>
        </p:nvSpPr>
        <p:spPr>
          <a:xfrm>
            <a:off x="9217152" y="4087368"/>
            <a:ext cx="1161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050" dirty="0"/>
          </a:p>
        </p:txBody>
      </p:sp>
      <p:pic>
        <p:nvPicPr>
          <p:cNvPr id="38" name="Image 15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305288" y="3611880"/>
            <a:ext cx="182880" cy="182880"/>
          </a:xfrm>
          <a:prstGeom prst="rect">
            <a:avLst/>
          </a:prstGeom>
        </p:spPr>
      </p:pic>
      <p:sp>
        <p:nvSpPr>
          <p:cNvPr id="39" name="Shape 21"/>
          <p:cNvSpPr/>
          <p:nvPr/>
        </p:nvSpPr>
        <p:spPr>
          <a:xfrm>
            <a:off x="10748772" y="3419856"/>
            <a:ext cx="566928" cy="566928"/>
          </a:xfrm>
          <a:prstGeom prst="ellipse">
            <a:avLst/>
          </a:prstGeom>
          <a:solidFill>
            <a:srgbClr val="17D4AC"/>
          </a:solidFill>
          <a:ln/>
        </p:spPr>
      </p:sp>
      <p:pic>
        <p:nvPicPr>
          <p:cNvPr id="40" name="Image 16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890504" y="3561588"/>
            <a:ext cx="283464" cy="283464"/>
          </a:xfrm>
          <a:prstGeom prst="rect">
            <a:avLst/>
          </a:prstGeom>
        </p:spPr>
      </p:pic>
      <p:sp>
        <p:nvSpPr>
          <p:cNvPr id="41" name="Text 22"/>
          <p:cNvSpPr txBox="1"/>
          <p:nvPr/>
        </p:nvSpPr>
        <p:spPr>
          <a:xfrm>
            <a:off x="10451592" y="4087368"/>
            <a:ext cx="1161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1050" dirty="0"/>
          </a:p>
        </p:txBody>
      </p:sp>
      <p:sp>
        <p:nvSpPr>
          <p:cNvPr id="42" name="Text 23"/>
          <p:cNvSpPr txBox="1"/>
          <p:nvPr/>
        </p:nvSpPr>
        <p:spPr>
          <a:xfrm>
            <a:off x="822960" y="5074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7D4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resultado não é a soma das partes — é o efeito de todas elas trabalhando como um sistema só.</a:t>
            </a:r>
            <a:endParaRPr lang="en-US" sz="1500" dirty="0"/>
          </a:p>
        </p:txBody>
      </p:sp>
      <p:sp>
        <p:nvSpPr>
          <p:cNvPr id="43" name="Text 24"/>
          <p:cNvSpPr txBox="1"/>
          <p:nvPr/>
        </p:nvSpPr>
        <p:spPr>
          <a:xfrm>
            <a:off x="457200" y="65471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B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ECOSSISTEMA INTEGRADO</a:t>
            </a:r>
            <a:endParaRPr lang="en-US" sz="800" dirty="0"/>
          </a:p>
        </p:txBody>
      </p:sp>
      <p:sp>
        <p:nvSpPr>
          <p:cNvPr id="44" name="Text 25"/>
          <p:cNvSpPr txBox="1"/>
          <p:nvPr/>
        </p:nvSpPr>
        <p:spPr>
          <a:xfrm>
            <a:off x="11002975" y="65471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hlinkClick r:id="rId1" tooltip="" action="ppaction://hlinksldjump"/>
          </p:cNvPr>
          <p:cNvSpPr/>
          <p:nvPr/>
        </p:nvSpPr>
        <p:spPr>
          <a:xfrm>
            <a:off x="10134295" y="384048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F1B3C">
              <a:alpha val="8000"/>
            </a:srgbClr>
          </a:solidFill>
          <a:ln w="9525">
            <a:solidFill>
              <a:srgbClr val="5B6690"/>
            </a:solidFill>
            <a:prstDash val="solid"/>
          </a:ln>
        </p:spPr>
      </p:sp>
      <p:sp>
        <p:nvSpPr>
          <p:cNvPr id="3" name="Text 1">
            <a:hlinkClick r:id="rId2" tooltip="" action="ppaction://hlinksldjump"/>
          </p:cNvPr>
          <p:cNvSpPr txBox="1"/>
          <p:nvPr/>
        </p:nvSpPr>
        <p:spPr>
          <a:xfrm>
            <a:off x="10134295" y="38404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◂ ÍNDICE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502920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0E9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5 — O RESULTADO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8229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processos isolados a um sistema de resultado.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1874520"/>
            <a:ext cx="4846320" cy="434340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12700">
            <a:solidFill>
              <a:srgbClr val="E2E6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103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97280" y="2651760"/>
            <a:ext cx="256032" cy="256032"/>
          </a:xfrm>
          <a:prstGeom prst="ellipse">
            <a:avLst/>
          </a:prstGeom>
          <a:solidFill>
            <a:srgbClr val="C7CEE3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" y="2715768"/>
            <a:ext cx="128016" cy="12801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508760" y="262432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isolados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1097280" y="3218688"/>
            <a:ext cx="256032" cy="256032"/>
          </a:xfrm>
          <a:prstGeom prst="ellipse">
            <a:avLst/>
          </a:prstGeom>
          <a:solidFill>
            <a:srgbClr val="C7CEE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288" y="3282696"/>
            <a:ext cx="128016" cy="12801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508760" y="3191256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Custos reativos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1097280" y="3785616"/>
            <a:ext cx="256032" cy="256032"/>
          </a:xfrm>
          <a:prstGeom prst="ellipse">
            <a:avLst/>
          </a:prstGeom>
          <a:solidFill>
            <a:srgbClr val="C7CEE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1288" y="3849624"/>
            <a:ext cx="128016" cy="12801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08760" y="375818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dispersos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1097280" y="4352544"/>
            <a:ext cx="256032" cy="256032"/>
          </a:xfrm>
          <a:prstGeom prst="ellipse">
            <a:avLst/>
          </a:prstGeom>
          <a:solidFill>
            <a:srgbClr val="C7CEE3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1288" y="4416552"/>
            <a:ext cx="128016" cy="12801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508760" y="432511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identificados tarde demais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989320" y="1874520"/>
            <a:ext cx="5394960" cy="4343400"/>
          </a:xfrm>
          <a:prstGeom prst="roundRect">
            <a:avLst>
              <a:gd name="adj" fmla="val 1895"/>
            </a:avLst>
          </a:prstGeom>
          <a:solidFill>
            <a:srgbClr val="0F1B3C"/>
          </a:solidFill>
          <a:ln/>
          <a:effectLst>
            <a:outerShdw sx="100000" sy="100000" kx="0" ky="0" algn="bl" rotWithShape="0" blurRad="177800" dist="38100" dir="5400000">
              <a:srgbClr val="1F3568">
                <a:alpha val="20000"/>
              </a:srgbClr>
            </a:outerShdw>
          </a:effectLst>
        </p:spPr>
      </p:sp>
      <p:sp>
        <p:nvSpPr>
          <p:cNvPr id="21" name="Text 15"/>
          <p:cNvSpPr txBox="1"/>
          <p:nvPr/>
        </p:nvSpPr>
        <p:spPr>
          <a:xfrm>
            <a:off x="6263640" y="2103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7D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6263640" y="2651760"/>
            <a:ext cx="256032" cy="256032"/>
          </a:xfrm>
          <a:prstGeom prst="ellipse">
            <a:avLst/>
          </a:prstGeom>
          <a:solidFill>
            <a:srgbClr val="17D4AC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7648" y="2706624"/>
            <a:ext cx="137160" cy="13716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675120" y="262432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integrada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6263640" y="3191256"/>
            <a:ext cx="256032" cy="256032"/>
          </a:xfrm>
          <a:prstGeom prst="ellipse">
            <a:avLst/>
          </a:prstGeom>
          <a:solidFill>
            <a:srgbClr val="17D4AC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7648" y="3246120"/>
            <a:ext cx="137160" cy="13716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6675120" y="316382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Prevenção inteligente</a:t>
            </a:r>
            <a:endParaRPr lang="en-US" sz="1250" dirty="0"/>
          </a:p>
        </p:txBody>
      </p:sp>
      <p:sp>
        <p:nvSpPr>
          <p:cNvPr id="28" name="Shape 20"/>
          <p:cNvSpPr/>
          <p:nvPr/>
        </p:nvSpPr>
        <p:spPr>
          <a:xfrm>
            <a:off x="6263640" y="3730752"/>
            <a:ext cx="256032" cy="256032"/>
          </a:xfrm>
          <a:prstGeom prst="ellipse">
            <a:avLst/>
          </a:prstGeom>
          <a:solidFill>
            <a:srgbClr val="17D4AC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7648" y="3785616"/>
            <a:ext cx="137160" cy="13716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6675120" y="37033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Colaboradores mais saudáveis</a:t>
            </a:r>
            <a:endParaRPr lang="en-US" sz="1250" dirty="0"/>
          </a:p>
        </p:txBody>
      </p:sp>
      <p:sp>
        <p:nvSpPr>
          <p:cNvPr id="31" name="Shape 22"/>
          <p:cNvSpPr/>
          <p:nvPr/>
        </p:nvSpPr>
        <p:spPr>
          <a:xfrm>
            <a:off x="6263640" y="4270248"/>
            <a:ext cx="256032" cy="256032"/>
          </a:xfrm>
          <a:prstGeom prst="ellipse">
            <a:avLst/>
          </a:prstGeom>
          <a:solidFill>
            <a:srgbClr val="17D4AC"/>
          </a:solidFill>
          <a:ln/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7648" y="4325112"/>
            <a:ext cx="137160" cy="137160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6675120" y="424281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produtividade</a:t>
            </a:r>
            <a:endParaRPr lang="en-US" sz="1250" dirty="0"/>
          </a:p>
        </p:txBody>
      </p:sp>
      <p:sp>
        <p:nvSpPr>
          <p:cNvPr id="34" name="Shape 24"/>
          <p:cNvSpPr/>
          <p:nvPr/>
        </p:nvSpPr>
        <p:spPr>
          <a:xfrm>
            <a:off x="6263640" y="4809744"/>
            <a:ext cx="256032" cy="256032"/>
          </a:xfrm>
          <a:prstGeom prst="ellipse">
            <a:avLst/>
          </a:prstGeom>
          <a:solidFill>
            <a:srgbClr val="17D4AC"/>
          </a:solidFill>
          <a:ln/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27648" y="4864608"/>
            <a:ext cx="137160" cy="137160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6675120" y="47823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baseadas em dados</a:t>
            </a:r>
            <a:endParaRPr lang="en-US" sz="1250" dirty="0"/>
          </a:p>
        </p:txBody>
      </p:sp>
      <p:sp>
        <p:nvSpPr>
          <p:cNvPr id="37" name="Shape 26"/>
          <p:cNvSpPr/>
          <p:nvPr/>
        </p:nvSpPr>
        <p:spPr>
          <a:xfrm>
            <a:off x="6263640" y="5349240"/>
            <a:ext cx="256032" cy="256032"/>
          </a:xfrm>
          <a:prstGeom prst="ellipse">
            <a:avLst/>
          </a:prstGeom>
          <a:solidFill>
            <a:srgbClr val="17D4AC"/>
          </a:solidFill>
          <a:ln/>
        </p:spPr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27648" y="5404104"/>
            <a:ext cx="137160" cy="137160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6675120" y="53218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mensurável</a:t>
            </a:r>
            <a:endParaRPr lang="en-US" sz="1250" dirty="0"/>
          </a:p>
        </p:txBody>
      </p:sp>
      <p:sp>
        <p:nvSpPr>
          <p:cNvPr id="40" name="Text 28"/>
          <p:cNvSpPr txBox="1"/>
          <p:nvPr/>
        </p:nvSpPr>
        <p:spPr>
          <a:xfrm>
            <a:off x="457200" y="65471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ECOSSISTEMA INTEGRADO</a:t>
            </a:r>
            <a:endParaRPr lang="en-US" sz="800" dirty="0"/>
          </a:p>
        </p:txBody>
      </p:sp>
      <p:sp>
        <p:nvSpPr>
          <p:cNvPr id="41" name="Text 29"/>
          <p:cNvSpPr txBox="1"/>
          <p:nvPr/>
        </p:nvSpPr>
        <p:spPr>
          <a:xfrm>
            <a:off x="11002975" y="65471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4206240"/>
            <a:ext cx="7315200" cy="7315200"/>
          </a:xfrm>
          <a:prstGeom prst="ellipse">
            <a:avLst/>
          </a:prstGeom>
          <a:solidFill>
            <a:srgbClr val="182A5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17320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17D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5 — O RESULTADO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874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Isso não são sete empresas diferentes.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9748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100" i="1" dirty="0">
                <a:solidFill>
                  <a:srgbClr val="17D4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 um único sistema, pensado para transformar saúde,</a:t>
            </a:r>
            <a:endParaRPr lang="en-US" sz="2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100" i="1" dirty="0">
                <a:solidFill>
                  <a:srgbClr val="17D4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produtividade e performance — de ponta a ponta.</a:t>
            </a:r>
            <a:endParaRPr lang="en-US" sz="2100" dirty="0"/>
          </a:p>
        </p:txBody>
      </p:sp>
      <p:sp>
        <p:nvSpPr>
          <p:cNvPr id="6" name="Shape 4">
            <a:hlinkClick r:id="rId1" tooltip="" action="ppaction://hlinksldjump"/>
          </p:cNvPr>
          <p:cNvSpPr/>
          <p:nvPr/>
        </p:nvSpPr>
        <p:spPr>
          <a:xfrm>
            <a:off x="822960" y="384048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8B96C4"/>
            </a:solidFill>
            <a:prstDash val="solid"/>
          </a:ln>
        </p:spPr>
      </p:sp>
      <p:sp>
        <p:nvSpPr>
          <p:cNvPr id="7" name="Text 5">
            <a:hlinkClick r:id="rId2" tooltip="" action="ppaction://hlinksldjump"/>
          </p:cNvPr>
          <p:cNvSpPr txBox="1"/>
          <p:nvPr/>
        </p:nvSpPr>
        <p:spPr>
          <a:xfrm>
            <a:off x="822960" y="38404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none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◂ ÍNDICE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5471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B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ECOSSISTEMA INTEGRADO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11002975" y="65471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286000"/>
            <a:ext cx="5486400" cy="5486400"/>
          </a:xfrm>
          <a:prstGeom prst="ellipse">
            <a:avLst/>
          </a:prstGeom>
          <a:solidFill>
            <a:srgbClr val="182A5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65960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17D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ECOSSISTEMA INTEGRADO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33172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Vamos construir esse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juntos.</a:t>
            </a:r>
            <a:endParaRPr lang="en-US" sz="3600" dirty="0"/>
          </a:p>
        </p:txBody>
      </p:sp>
      <p:sp>
        <p:nvSpPr>
          <p:cNvPr id="5" name="Shape 3">
            <a:hlinkClick r:id="rId1" tooltip="" action="ppaction://hlinksldjump"/>
          </p:cNvPr>
          <p:cNvSpPr/>
          <p:nvPr/>
        </p:nvSpPr>
        <p:spPr>
          <a:xfrm>
            <a:off x="822960" y="397764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17D4AC"/>
          </a:solidFill>
          <a:ln/>
        </p:spPr>
      </p:sp>
      <p:sp>
        <p:nvSpPr>
          <p:cNvPr id="6" name="Text 4">
            <a:hlinkClick r:id="rId2" tooltip="" action="ppaction://hlinksldjump"/>
          </p:cNvPr>
          <p:cNvSpPr txBox="1"/>
          <p:nvPr/>
        </p:nvSpPr>
        <p:spPr>
          <a:xfrm>
            <a:off x="822960" y="3977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u="none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VOLTAR AO ÍNDICE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" kern="0" dirty="0">
                <a:solidFill>
                  <a:srgbClr val="8B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FourLife   ·   AVall.iÔ   ·   SGG   ·   Grupo LabDuo   ·   ZapVida   ·   Uninovia   ·   Agência Orion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5471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B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ECOSSISTEMA INTEGRADO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11002975" y="65471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Ecossistema Integrado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Soluções Integradas do Ecossistema</dc:title>
  <dc:subject>PptxGenJS Presentation</dc:subject>
  <dc:creator>Ecossistema Integrado</dc:creator>
  <cp:lastModifiedBy>Ecossistema Integrado</cp:lastModifiedBy>
  <cp:revision>1</cp:revision>
  <dcterms:created xsi:type="dcterms:W3CDTF">2026-08-26T19:09:23Z</dcterms:created>
  <dcterms:modified xsi:type="dcterms:W3CDTF">2026-08-26T19:09:23Z</dcterms:modified>
</cp:coreProperties>
</file>